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embeddedFontLst>
    <p:embeddedFont>
      <p:font typeface="Bookman Old Style" panose="02050604050505020204" pitchFamily="18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Rockwell" panose="02060603020205020403" pitchFamily="18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F1E1E5-16D1-484D-B217-08CA7DD83D41}">
  <a:tblStyle styleId="{FFF1E1E5-16D1-484D-B217-08CA7DD83D4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177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384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8514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847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845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527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96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465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272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509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937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69647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0243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877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030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5099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0093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403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8807" y="3933825"/>
            <a:ext cx="6034385" cy="64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97782" y="1525934"/>
            <a:ext cx="7196435" cy="380613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27947" y="2106959"/>
            <a:ext cx="6336104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ARIMA vs. Prophet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78807" y="3126134"/>
            <a:ext cx="603438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078807" y="4305300"/>
            <a:ext cx="603438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80FC52F9-339A-1431-BE6A-A1C74BFEBB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8108" y="3264393"/>
            <a:ext cx="6175783" cy="329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211455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ARIMA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2781300"/>
            <a:ext cx="45529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AutoRegr</a:t>
            </a:r>
            <a:r>
              <a:rPr lang="hu-HU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esszí</a:t>
            </a:r>
            <a:r>
              <a:rPr lang="hu-HU" sz="1500" b="1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</a:t>
            </a:r>
            <a:r>
              <a:rPr lang="hu-HU" sz="15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ált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</a:t>
            </a:r>
            <a:r>
              <a:rPr lang="hu-HU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zgó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hu-HU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Átlag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mode</a:t>
            </a:r>
            <a:r>
              <a:rPr lang="hu-HU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 a statisztikai előrejelzés aranystandardja. Magának az idősornak a matematikai tulajdonságaira támaszkodik (</a:t>
            </a:r>
            <a:r>
              <a:rPr lang="hu-HU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autokorreláció</a:t>
            </a:r>
            <a:r>
              <a:rPr lang="hu-HU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677025" y="211455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95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Prophet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77025" y="2596634"/>
            <a:ext cx="45529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hu-HU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Meta</a:t>
            </a: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(Facebook) által fejlesztett </a:t>
            </a:r>
            <a:r>
              <a:rPr lang="hu-HU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Prophet</a:t>
            </a: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skálázhatóság és a könnyű használhatóság jegyében készült. Az előrejelzést görbeillesztési problémaként kezeli, nem pedig szigorú idősor-függőségi problémaként.</a:t>
            </a:r>
            <a:endParaRPr dirty="0"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143125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047750" y="4686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00137" y="4601528"/>
            <a:ext cx="4362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Elméleti szigorúság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47750" y="49911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92770" y="4912162"/>
            <a:ext cx="4362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Statisztikai Alapok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047750" y="5295900"/>
            <a:ext cx="40080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1057275" y="5220568"/>
            <a:ext cx="4362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„Stacionárius” adatokat igényel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143125"/>
            <a:ext cx="2995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762749" y="466314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6815136" y="4599786"/>
            <a:ext cx="4362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Ü</a:t>
            </a:r>
            <a:r>
              <a:rPr lang="hu-HU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zlet-orientált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6762749" y="497086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6826820" y="4906150"/>
            <a:ext cx="4362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Ünnepeket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rendezvényeket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kezel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6762749" y="528149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6826820" y="5210950"/>
            <a:ext cx="4362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Robusztus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zavaros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adatok</a:t>
            </a:r>
            <a:endParaRPr dirty="0"/>
          </a:p>
        </p:txBody>
      </p:sp>
      <p:sp>
        <p:nvSpPr>
          <p:cNvPr id="115" name="Google Shape;115;p14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 két modell</a:t>
            </a:r>
            <a:endParaRPr dirty="0"/>
          </a:p>
        </p:txBody>
      </p:sp>
      <p:sp>
        <p:nvSpPr>
          <p:cNvPr id="116" name="Google Shape;116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02258"/>
            <a:ext cx="4953000" cy="529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1462236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Mi is az az ARIMA?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2214711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ARIMA </a:t>
            </a:r>
            <a:r>
              <a:rPr lang="hu-HU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három paraméter által definiált</a:t>
            </a:r>
            <a:r>
              <a:rPr lang="en-US" sz="1500" b="0" i="0" u="none" strike="noStrike" cap="none" dirty="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(p, d, q)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2655599"/>
            <a:ext cx="4953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Feltételezi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hogy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jövő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múltbeli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megfigyelések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múltbeli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hibák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lineáris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függvénye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Megköveteli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adatok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stacionárius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jellegét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–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ami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jelenti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hogy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trend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vagy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szezonalitás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hiánya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stabil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átlagot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időbeli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varianciát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jelent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5049142"/>
            <a:ext cx="5603158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r>
              <a:rPr lang="hu-HU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Egyszerűsített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ARIMA(1,0,1) </a:t>
            </a:r>
            <a:r>
              <a:rPr lang="hu-HU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reprezentáció</a:t>
            </a:r>
          </a:p>
          <a:p>
            <a:pPr lvl="0">
              <a:lnSpc>
                <a:spcPct val="159904"/>
              </a:lnSpc>
            </a:pPr>
            <a:r>
              <a:rPr lang="hu-HU" sz="10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P – Hány időlépésnyi múltbeli értéket tartalmaz a modell</a:t>
            </a:r>
            <a:br>
              <a:rPr lang="hu-HU" sz="10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</a:br>
            <a:r>
              <a:rPr lang="hu-HU" sz="10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D – Hányszor kell differenciálni az idősorokat, hogy </a:t>
            </a:r>
            <a:r>
              <a:rPr lang="hu-HU" sz="10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stacionáriusak</a:t>
            </a:r>
            <a:r>
              <a:rPr lang="hu-HU" sz="10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legyenek</a:t>
            </a:r>
            <a:br>
              <a:rPr lang="hu-HU" sz="10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</a:br>
            <a:r>
              <a:rPr lang="hu-HU" sz="10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Q – Hány időlépéssel ezelőtt tartalmazza a modell a múltbeli hibák értékeit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2500312"/>
            <a:ext cx="5286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hu-HU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Prophet</a:t>
            </a: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másképp működik. Ez egy additív regressziós modell. Az időlépések közötti korrelációk vizsgálata helyett az idősorokat három különálló komponensre bontja: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581025" y="5605462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Ez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struktúra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intuitívvá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teszi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értelmezését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097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09611" y="39914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3910012"/>
            <a:ext cx="5412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Trend: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Nem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periodikus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változások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növekedés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hanyatlás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709612" y="438507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4310062"/>
            <a:ext cx="5095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Szezonalitás</a:t>
            </a:r>
            <a:r>
              <a:rPr lang="en-US" sz="1500" b="1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Időszakos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változások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heti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éves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704850" y="477464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4710112"/>
            <a:ext cx="54124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Ünnepek</a:t>
            </a:r>
            <a:r>
              <a:rPr lang="en-US" sz="1500" b="1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Rendellenes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események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amelyek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meghatározott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napokon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történnek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 az a </a:t>
            </a:r>
            <a:r>
              <a:rPr lang="en-US" sz="36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Prophet?</a:t>
            </a: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0712"/>
            <a:ext cx="3492549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90712"/>
            <a:ext cx="3492549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90712"/>
            <a:ext cx="3492549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6700" y="21859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1299600" y="3138487"/>
            <a:ext cx="20363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100" b="1" dirty="0" err="1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Autokorreláció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866775" y="3805237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hu-HU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ARIMA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feltételezi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hogy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érték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korrelál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tegnapi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értékkel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„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Emlékszik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”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közelmúltra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hogy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megjósolja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közvetlen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jövőt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0" y="21859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142369" y="3138487"/>
            <a:ext cx="194649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100" b="1" dirty="0" err="1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Görbeillesztés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4645074" y="3805237"/>
            <a:ext cx="290199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hu-HU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Prophet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sima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görbét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rajzol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adatpontokon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keresztül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Nem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függ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szigorúan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előző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adatponttól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így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ellenáll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hiányzó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adatrészleteknek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3299" y="21859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022161" y="3138487"/>
            <a:ext cx="17042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100" b="1" dirty="0" err="1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Alkatrészek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8423298" y="3534489"/>
            <a:ext cx="290199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Míg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ARIMA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egyetlen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egyenletbe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keveri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jeleket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a Prophet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összevonja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összetevőket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(Trend +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Évszak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+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Ünnep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),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lehetővé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téve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egyes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összetevők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egyenkénti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vizsgálatát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79575" y="23764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57875" y="23764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59987" y="23764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Mechanizmus Összehasonlítás</a:t>
            </a:r>
            <a:endParaRPr dirty="0"/>
          </a:p>
        </p:txBody>
      </p:sp>
      <p:sp>
        <p:nvSpPr>
          <p:cNvPr id="166" name="Google Shape;166;p1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962025" y="21431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i="0" u="none" strike="noStrike" cap="none" dirty="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ARIMA </a:t>
            </a:r>
            <a:r>
              <a:rPr lang="en-US" sz="2100" b="1" dirty="0" err="1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Szigorúság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6677025" y="21431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i="0" u="none" strike="noStrike" cap="none" dirty="0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Prophet </a:t>
            </a:r>
            <a:r>
              <a:rPr lang="en-US" sz="2100" b="1" dirty="0" err="1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Rugalmasság</a:t>
            </a:r>
            <a:endParaRPr dirty="0"/>
          </a:p>
        </p:txBody>
      </p:sp>
      <p:sp>
        <p:nvSpPr>
          <p:cNvPr id="176" name="Google Shape;176;p18"/>
          <p:cNvSpPr txBox="1"/>
          <p:nvPr/>
        </p:nvSpPr>
        <p:spPr>
          <a:xfrm>
            <a:off x="962025" y="2724150"/>
            <a:ext cx="4552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hu-HU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Stacionáris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Modellezés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előtt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kell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távolítani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trendeket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szezonalitást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differenciálást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962025" y="3467100"/>
            <a:ext cx="45529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Regular Intervals: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adatoknak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egyenletesen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elosztottnak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kell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lenniük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nem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lehetnek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hiányzó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napok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962025" y="4524375"/>
            <a:ext cx="4552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hu-HU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Kiugró érzékeny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Egyetlen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kiugrás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megzavarhatja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késleltetés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számításait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6677025" y="2705100"/>
            <a:ext cx="4552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hu-HU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hu-HU" sz="15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</a:t>
            </a:r>
            <a:r>
              <a:rPr lang="hu-HU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cionáris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Natívan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kezeli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trendeket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szezonalitást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6677025" y="3469552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Missing Data: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Can skip over missing dates without error.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6677025" y="4191472"/>
            <a:ext cx="45529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Kiugró</a:t>
            </a:r>
            <a:r>
              <a:rPr lang="en-US" sz="15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robusztus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Szakaszokonként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lineáris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trendeket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használ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anomáliák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figyelmen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kívül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hagyására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8289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3581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46386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7025" y="28289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77025" y="35814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77025" y="43338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Adatkövetelmények</a:t>
            </a:r>
            <a:endParaRPr dirty="0"/>
          </a:p>
        </p:txBody>
      </p:sp>
      <p:sp>
        <p:nvSpPr>
          <p:cNvPr id="189" name="Google Shape;189;p1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71500" y="1452562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Szezonalitás</a:t>
            </a:r>
            <a:r>
              <a:rPr lang="en-US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és</a:t>
            </a:r>
            <a:r>
              <a:rPr lang="en-US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ünnepek</a:t>
            </a:r>
            <a:endParaRPr dirty="0"/>
          </a:p>
        </p:txBody>
      </p:sp>
      <p:pic>
        <p:nvPicPr>
          <p:cNvPr id="196" name="Google Shape;19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71500" y="2014537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i="0" u="none" strike="noStrike" cap="none" dirty="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800" b="1" i="0" u="none" strike="noStrike" cap="none" dirty="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Prophet </a:t>
            </a:r>
            <a:r>
              <a:rPr lang="hu-HU" sz="1800" b="1" i="0" u="none" strike="noStrike" cap="none" dirty="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Előnye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2481262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Prophet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egyik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legerősebb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előnye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üzleti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ciklusok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natív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kezelése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99" name="Google Shape;199;p19"/>
          <p:cNvSpPr txBox="1"/>
          <p:nvPr/>
        </p:nvSpPr>
        <p:spPr>
          <a:xfrm>
            <a:off x="571500" y="3281362"/>
            <a:ext cx="4953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Ünnepek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Egyszerűen csak át kell adni egy ünnepnapok listáját (pl. "Black </a:t>
            </a:r>
            <a:r>
              <a:rPr lang="hu-HU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Friday</a:t>
            </a: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", "</a:t>
            </a:r>
            <a:r>
              <a:rPr lang="hu-HU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Super</a:t>
            </a: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hu-HU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Bowl</a:t>
            </a: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"), és a </a:t>
            </a:r>
            <a:r>
              <a:rPr lang="hu-HU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Prophet</a:t>
            </a: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automatikusan módosítja az előrejelzéseket ezekre a napokra.</a:t>
            </a:r>
            <a:endParaRPr dirty="0"/>
          </a:p>
        </p:txBody>
      </p:sp>
      <p:sp>
        <p:nvSpPr>
          <p:cNvPr id="200" name="Google Shape;200;p19"/>
          <p:cNvSpPr txBox="1"/>
          <p:nvPr/>
        </p:nvSpPr>
        <p:spPr>
          <a:xfrm>
            <a:off x="571500" y="4734878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Többszörös</a:t>
            </a:r>
            <a:r>
              <a:rPr lang="en-US" sz="15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szezonalitások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hu-H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Egyidejűleg képes heti és éves mintákat modellezni (pl. magasabb eladások hétvégén ÉS decemberben).</a:t>
            </a:r>
            <a:endParaRPr dirty="0"/>
          </a:p>
        </p:txBody>
      </p:sp>
      <p:pic>
        <p:nvPicPr>
          <p:cNvPr id="201" name="Google Shape;20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385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1584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025"/>
            <a:ext cx="1104900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571500" y="2224087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modell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alkalmasságának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összehasonlítása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különböző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adattípusok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esetén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Hipotetikus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pontszám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/ 10)</a:t>
            </a:r>
            <a:endParaRPr dirty="0"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Teljesítmény</a:t>
            </a:r>
            <a:r>
              <a:rPr lang="en-US" sz="360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600" b="1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kontextus</a:t>
            </a:r>
            <a:endParaRPr dirty="0"/>
          </a:p>
        </p:txBody>
      </p:sp>
      <p:sp>
        <p:nvSpPr>
          <p:cNvPr id="234" name="Google Shape;234;p2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0" name="Google Shape;240;p22"/>
          <p:cNvGraphicFramePr/>
          <p:nvPr>
            <p:extLst>
              <p:ext uri="{D42A27DB-BD31-4B8C-83A1-F6EECF244321}">
                <p14:modId xmlns:p14="http://schemas.microsoft.com/office/powerpoint/2010/main" val="1054360167"/>
              </p:ext>
            </p:extLst>
          </p:nvPr>
        </p:nvGraphicFramePr>
        <p:xfrm>
          <a:off x="571500" y="2045047"/>
          <a:ext cx="11048975" cy="4110900"/>
        </p:xfrm>
        <a:graphic>
          <a:graphicData uri="http://schemas.openxmlformats.org/drawingml/2006/table">
            <a:tbl>
              <a:tblPr firstRow="1" bandRow="1">
                <a:noFill/>
                <a:tableStyleId>{FFF1E1E5-16D1-484D-B217-08CA7DD83D41}</a:tableStyleId>
              </a:tblPr>
              <a:tblGrid>
                <a:gridCol w="193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Jellemző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ARIMA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Prophet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Szezonalitás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Manuális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differenciálást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igényel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(SARIMA)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Automatikus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és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rugalmas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több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időszakra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Hiányzó</a:t>
                      </a:r>
                      <a:r>
                        <a:rPr lang="en-US" sz="1500" b="1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adatok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Nem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kezelhető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imputálást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igényel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Natívan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kezeli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Hangolás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Nehéz (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p,d,q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rácskeresés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Könnyű (Intuitív </a:t>
                      </a:r>
                      <a:r>
                        <a:rPr lang="hu-HU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hiperparaméterek</a:t>
                      </a:r>
                      <a:r>
                        <a:rPr lang="hu-HU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Sebesség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Lassabb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nagy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hu-HU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grid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keresés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esetén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Általában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gyorsabb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Legjobb</a:t>
                      </a:r>
                      <a:r>
                        <a:rPr lang="en-US" sz="1500" b="1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felhasználási</a:t>
                      </a:r>
                      <a:r>
                        <a:rPr lang="en-US" sz="1500" b="1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eset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Rövid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távú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helyhez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kötött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tudományos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adatok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Üzleti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adatok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ünnepek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telítettségi</a:t>
                      </a: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pontok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1" name="Google Shape;241;p22"/>
          <p:cNvSpPr/>
          <p:nvPr/>
        </p:nvSpPr>
        <p:spPr>
          <a:xfrm>
            <a:off x="571500" y="2669827"/>
            <a:ext cx="19322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2503735" y="2669827"/>
            <a:ext cx="4440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944617" y="2669827"/>
            <a:ext cx="4675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571500" y="3365152"/>
            <a:ext cx="19322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2503735" y="3365152"/>
            <a:ext cx="4440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6944617" y="3365152"/>
            <a:ext cx="4675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060477"/>
            <a:ext cx="19322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2503735" y="4060477"/>
            <a:ext cx="4440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6944617" y="4060477"/>
            <a:ext cx="4675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71500" y="4755802"/>
            <a:ext cx="19322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2503735" y="4755802"/>
            <a:ext cx="4440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944617" y="4755802"/>
            <a:ext cx="4675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571500" y="5451127"/>
            <a:ext cx="19322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2503735" y="5451127"/>
            <a:ext cx="4440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944617" y="5451127"/>
            <a:ext cx="4675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571500" y="6146452"/>
            <a:ext cx="19322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2503735" y="6146452"/>
            <a:ext cx="4440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6944617" y="6146452"/>
            <a:ext cx="46758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hu-HU" sz="36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Összehasonlítás</a:t>
            </a:r>
            <a:endParaRPr dirty="0"/>
          </a:p>
        </p:txBody>
      </p:sp>
      <p:sp>
        <p:nvSpPr>
          <p:cNvPr id="260" name="Google Shape;260;p2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/>
          <p:nvPr/>
        </p:nvSpPr>
        <p:spPr>
          <a:xfrm>
            <a:off x="571500" y="31166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71500" y="39013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71500" y="46861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0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1666875" y="248423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https://machinelearningmastery.com/wp-content/uploads/2017/01/ARIMA-Rolling-Forecast-Line-Plot.png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666875" y="2729954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Forrás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machinelearningmastery.com</a:t>
            </a:r>
            <a:endParaRPr dirty="0"/>
          </a:p>
        </p:txBody>
      </p:sp>
      <p:pic>
        <p:nvPicPr>
          <p:cNvPr id="272" name="Google Shape;27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755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1666875" y="326900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https://facebook.github.io/prophet/static/seasonality,_holiday_effects,_and_regressors_files/seasonality,_holiday_effects,_and_regressors_14_0.png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666875" y="3514725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Forrás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facebook.github.io</a:t>
            </a:r>
            <a:endParaRPr dirty="0"/>
          </a:p>
        </p:txBody>
      </p:sp>
      <p:pic>
        <p:nvPicPr>
          <p:cNvPr id="275" name="Google Shape;27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6032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1666875" y="405378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https://365datascience.com/resources/blog/a7qmiq6uo86-time-series-analysis.jpg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1666875" y="4299495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Forrás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365datascience.com</a:t>
            </a:r>
            <a:endParaRPr dirty="0"/>
          </a:p>
        </p:txBody>
      </p:sp>
      <p:pic>
        <p:nvPicPr>
          <p:cNvPr id="278" name="Google Shape;27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442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1666875" y="483855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https://imgproxy.services.openhpi.de/trHF34CDPX3dyF7DUOnbOA3OkJFyYplHop7eTlCSNfI/rs:fit:550:0:0/g:ce/plain/https://openhpi-public.s3.openhpicloud.de/courses/30dTxNWKe8rke2XrlAwIy/5tIepn9W3ZKTT1X4q9rxSV/timeseries.png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666875" y="5282356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Forrás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open.hpi.de</a:t>
            </a:r>
            <a:endParaRPr dirty="0"/>
          </a:p>
        </p:txBody>
      </p:sp>
      <p:sp>
        <p:nvSpPr>
          <p:cNvPr id="281" name="Google Shape;281;p23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Források</a:t>
            </a:r>
            <a:endParaRPr dirty="0"/>
          </a:p>
        </p:txBody>
      </p:sp>
      <p:sp>
        <p:nvSpPr>
          <p:cNvPr id="282" name="Google Shape;282;p2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73</TotalTime>
  <Words>706</Words>
  <Application>Microsoft Office PowerPoint</Application>
  <PresentationFormat>Szélesvásznú</PresentationFormat>
  <Paragraphs>83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6" baseType="lpstr">
      <vt:lpstr>Calibri</vt:lpstr>
      <vt:lpstr>Arial</vt:lpstr>
      <vt:lpstr>Rockwell</vt:lpstr>
      <vt:lpstr>Inter</vt:lpstr>
      <vt:lpstr>Bookman Old Style</vt:lpstr>
      <vt:lpstr>Damask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András Loós</cp:lastModifiedBy>
  <cp:revision>12</cp:revision>
  <dcterms:modified xsi:type="dcterms:W3CDTF">2025-11-30T20:23:29Z</dcterms:modified>
</cp:coreProperties>
</file>