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Outfit"/>
      <p:regular r:id="rId15"/>
      <p:bold r:id="rId16"/>
    </p:embeddedFont>
    <p:embeddedFont>
      <p:font typeface="Space Grotesk"/>
      <p:regular r:id="rId17"/>
      <p:bold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Outfit-regular.fntdata"/><Relationship Id="rId14" Type="http://schemas.openxmlformats.org/officeDocument/2006/relationships/slide" Target="slides/slide9.xml"/><Relationship Id="rId17" Type="http://schemas.openxmlformats.org/officeDocument/2006/relationships/font" Target="fonts/SpaceGrotesk-regular.fntdata"/><Relationship Id="rId16" Type="http://schemas.openxmlformats.org/officeDocument/2006/relationships/font" Target="fonts/Outfit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font" Target="fonts/SpaceGrotesk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10" Type="http://schemas.openxmlformats.org/officeDocument/2006/relationships/image" Target="../media/image17.png"/><Relationship Id="rId9" Type="http://schemas.openxmlformats.org/officeDocument/2006/relationships/image" Target="../media/image10.png"/><Relationship Id="rId5" Type="http://schemas.openxmlformats.org/officeDocument/2006/relationships/image" Target="../media/image12.png"/><Relationship Id="rId6" Type="http://schemas.openxmlformats.org/officeDocument/2006/relationships/image" Target="../media/image18.png"/><Relationship Id="rId7" Type="http://schemas.openxmlformats.org/officeDocument/2006/relationships/image" Target="../media/image9.png"/><Relationship Id="rId8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2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16.png"/><Relationship Id="rId6" Type="http://schemas.openxmlformats.org/officeDocument/2006/relationships/image" Target="../media/image2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2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809750" y="1449883"/>
            <a:ext cx="8572500" cy="3958232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2205513" y="2030908"/>
            <a:ext cx="7780972" cy="1508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Space Grotesk"/>
                <a:ea typeface="Space Grotesk"/>
                <a:cs typeface="Space Grotesk"/>
                <a:sym typeface="Space Grotesk"/>
              </a:rPr>
              <a:t>Boosting Algoritmusok Összehasonlítása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2390775" y="3729930"/>
            <a:ext cx="741045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AdaBoost vs GradientBoost vs HistGradientBoost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2390775" y="4381351"/>
            <a:ext cx="7410450" cy="274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Teljesítményelemzés Python és Scikit-Learn segítségével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3" name="Google Shape;9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790825"/>
            <a:ext cx="5324475" cy="236979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5" name="Google Shape;95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2790825"/>
            <a:ext cx="5324475" cy="236979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971550" y="3181350"/>
            <a:ext cx="4770596" cy="293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A5F3FC"/>
                </a:solidFill>
                <a:latin typeface="Space Grotesk"/>
                <a:ea typeface="Space Grotesk"/>
                <a:cs typeface="Space Grotesk"/>
                <a:sym typeface="Space Grotesk"/>
              </a:rPr>
              <a:t>Verseny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971550" y="3665190"/>
            <a:ext cx="45434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Három népszerű gépi tanulási algoritmust "eresztünk egymásnak", hogy kiderüljön, melyik a leghatékonyabb.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6677025" y="3181350"/>
            <a:ext cx="4770596" cy="293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A5F3FC"/>
                </a:solidFill>
                <a:latin typeface="Space Grotesk"/>
                <a:ea typeface="Space Grotesk"/>
                <a:cs typeface="Space Grotesk"/>
                <a:sym typeface="Space Grotesk"/>
              </a:rPr>
              <a:t>Tesztkörnyezet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6677025" y="3665190"/>
            <a:ext cx="454342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Különböző nehézségű feladatokon (könnyűtől a nagyon zajosig) mérjük a pontosságukat és a gyorsaságukat.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581025" y="581025"/>
            <a:ext cx="11581447" cy="5219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A Projekt Célja</a:t>
            </a:r>
            <a:endParaRPr/>
          </a:p>
        </p:txBody>
      </p:sp>
      <p:sp>
        <p:nvSpPr>
          <p:cNvPr id="101" name="Google Shape;101;p14"/>
          <p:cNvSpPr/>
          <p:nvPr/>
        </p:nvSpPr>
        <p:spPr>
          <a:xfrm>
            <a:off x="581025" y="1274415"/>
            <a:ext cx="1102995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6" name="Google Shape;10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2070645"/>
            <a:ext cx="5324475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8" name="Google Shape;108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05550" y="2089695"/>
            <a:ext cx="5286375" cy="3771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/>
          <p:nvPr/>
        </p:nvSpPr>
        <p:spPr>
          <a:xfrm>
            <a:off x="581025" y="2223045"/>
            <a:ext cx="5324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Könnyű</a:t>
            </a:r>
            <a:r>
              <a:rPr b="0" i="0" lang="en-US" sz="1500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2 jellemző (feature), egyértelműen elkülöníthető csoportok.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581025" y="3118395"/>
            <a:ext cx="532447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Közepes</a:t>
            </a:r>
            <a:r>
              <a:rPr b="0" i="0" lang="en-US" sz="1500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10 jellemző, bonyolultabb összefüggések.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581025" y="3861345"/>
            <a:ext cx="5324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Nehéz</a:t>
            </a:r>
            <a:r>
              <a:rPr b="0" i="0" lang="en-US" sz="1500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20 jellemző, sok zaj és véletlenszerű adat (zavaró tényezők).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581025" y="581025"/>
            <a:ext cx="11581447" cy="5219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Az Adathalmazok (Tesztpályák)</a:t>
            </a:r>
            <a:endParaRPr/>
          </a:p>
        </p:txBody>
      </p:sp>
      <p:sp>
        <p:nvSpPr>
          <p:cNvPr id="113" name="Google Shape;113;p15"/>
          <p:cNvSpPr/>
          <p:nvPr/>
        </p:nvSpPr>
        <p:spPr>
          <a:xfrm>
            <a:off x="581025" y="1274415"/>
            <a:ext cx="1102995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8" name="Google Shape;118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9" name="Google Shape;119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338387"/>
            <a:ext cx="3486150" cy="32746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0" name="Google Shape;120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52925" y="2338387"/>
            <a:ext cx="3486150" cy="32746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1" name="Google Shape;121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4825" y="2338387"/>
            <a:ext cx="3486150" cy="327466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2" name="Google Shape;122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0" y="2633662"/>
            <a:ext cx="762000" cy="762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3" name="Google Shape;123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943100" y="2633662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 txBox="1"/>
          <p:nvPr/>
        </p:nvSpPr>
        <p:spPr>
          <a:xfrm>
            <a:off x="1659016" y="3586162"/>
            <a:ext cx="1330166" cy="293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A5F3FC"/>
                </a:solidFill>
                <a:latin typeface="Space Grotesk"/>
                <a:ea typeface="Space Grotesk"/>
                <a:cs typeface="Space Grotesk"/>
                <a:sym typeface="Space Grotesk"/>
              </a:rPr>
              <a:t>AdaBoost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876300" y="4212877"/>
            <a:ext cx="289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 klasszikus. Egymás után javítja a hibákat, de érzékeny a zajos adatokra.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5105876" y="3586162"/>
            <a:ext cx="1980247" cy="293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A5F3FC"/>
                </a:solidFill>
                <a:latin typeface="Space Grotesk"/>
                <a:ea typeface="Space Grotesk"/>
                <a:cs typeface="Space Grotesk"/>
                <a:sym typeface="Space Grotesk"/>
              </a:rPr>
              <a:t>GradientBoost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4648200" y="4212877"/>
            <a:ext cx="289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 precíz. Matematikailag optimalizálja a hibát, nagyon pontos, de lassabb lehet.</a:t>
            </a:r>
            <a:endParaRPr/>
          </a:p>
        </p:txBody>
      </p:sp>
      <p:pic>
        <p:nvPicPr>
          <p:cNvPr descr="image.png" id="128" name="Google Shape;128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486900" y="2633662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6"/>
          <p:cNvSpPr txBox="1"/>
          <p:nvPr/>
        </p:nvSpPr>
        <p:spPr>
          <a:xfrm>
            <a:off x="8612743" y="3586162"/>
            <a:ext cx="2510313" cy="293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A5F3FC"/>
                </a:solidFill>
                <a:latin typeface="Space Grotesk"/>
                <a:ea typeface="Space Grotesk"/>
                <a:cs typeface="Space Grotesk"/>
                <a:sym typeface="Space Grotesk"/>
              </a:rPr>
              <a:t>HistGradientBoost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8420100" y="4212877"/>
            <a:ext cx="2895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A sebességbajnok. Modern, hisztogram alapú módszer, ami hatalmas adatokon is villámgyors.</a:t>
            </a:r>
            <a:endParaRPr/>
          </a:p>
        </p:txBody>
      </p:sp>
      <p:pic>
        <p:nvPicPr>
          <p:cNvPr descr="image.png" id="131" name="Google Shape;131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2066925" y="2786062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667875" y="2786062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581025" y="581025"/>
            <a:ext cx="11581447" cy="5219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A Versenyző Modellek</a:t>
            </a:r>
            <a:endParaRPr/>
          </a:p>
        </p:txBody>
      </p:sp>
      <p:sp>
        <p:nvSpPr>
          <p:cNvPr id="134" name="Google Shape;134;p16"/>
          <p:cNvSpPr/>
          <p:nvPr/>
        </p:nvSpPr>
        <p:spPr>
          <a:xfrm>
            <a:off x="581025" y="1274415"/>
            <a:ext cx="1102995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9" name="Google Shape;13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7"/>
          <p:cNvSpPr txBox="1"/>
          <p:nvPr/>
        </p:nvSpPr>
        <p:spPr>
          <a:xfrm>
            <a:off x="581025" y="581025"/>
            <a:ext cx="5190648" cy="5219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Hogyan "látnak"?</a:t>
            </a:r>
            <a:endParaRPr/>
          </a:p>
        </p:txBody>
      </p:sp>
      <p:sp>
        <p:nvSpPr>
          <p:cNvPr id="141" name="Google Shape;141;p17"/>
          <p:cNvSpPr/>
          <p:nvPr/>
        </p:nvSpPr>
        <p:spPr>
          <a:xfrm>
            <a:off x="581025" y="1274415"/>
            <a:ext cx="4943475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42" name="Google Shape;142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9525"/>
            <a:ext cx="6086475" cy="683895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17"/>
          <p:cNvSpPr txBox="1"/>
          <p:nvPr/>
        </p:nvSpPr>
        <p:spPr>
          <a:xfrm>
            <a:off x="581025" y="2462212"/>
            <a:ext cx="5190648" cy="2933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A5F3FC"/>
                </a:solidFill>
                <a:latin typeface="Space Grotesk"/>
                <a:ea typeface="Space Grotesk"/>
                <a:cs typeface="Space Grotesk"/>
                <a:sym typeface="Space Grotesk"/>
              </a:rPr>
              <a:t>Döntési Határok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581025" y="3088927"/>
            <a:ext cx="49434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Ez a vizualizáció megmutatja, hol húzzák meg a modellek a határt a kék és a piros csoport között.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581025" y="4079527"/>
            <a:ext cx="4943475" cy="12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Míg az egyszerűbb modellek egyenes vonalakat húznak, addig a boosting algoritmusok képesek bonyolult, görbe határokat is tanulni, hogy jobban illeszkedjenek az adatokra.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0" name="Google Shape;1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1" name="Google Shape;151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1674465"/>
            <a:ext cx="11029950" cy="4602509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8"/>
          <p:cNvSpPr txBox="1"/>
          <p:nvPr/>
        </p:nvSpPr>
        <p:spPr>
          <a:xfrm>
            <a:off x="581025" y="5184427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A HistGradientBoost nemcsak a legpontosabb volt a nehéz feladaton, de a leggyorsabb is.</a:t>
            </a:r>
            <a:endParaRPr/>
          </a:p>
        </p:txBody>
      </p:sp>
      <p:sp>
        <p:nvSpPr>
          <p:cNvPr id="153" name="Google Shape;153;p18"/>
          <p:cNvSpPr txBox="1"/>
          <p:nvPr/>
        </p:nvSpPr>
        <p:spPr>
          <a:xfrm>
            <a:off x="581025" y="581025"/>
            <a:ext cx="11581447" cy="5219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Eredmények (Pontosság %)</a:t>
            </a:r>
            <a:endParaRPr/>
          </a:p>
        </p:txBody>
      </p:sp>
      <p:sp>
        <p:nvSpPr>
          <p:cNvPr id="154" name="Google Shape;154;p18"/>
          <p:cNvSpPr/>
          <p:nvPr/>
        </p:nvSpPr>
        <p:spPr>
          <a:xfrm>
            <a:off x="581025" y="1274415"/>
            <a:ext cx="1102995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9" name="Google Shape;159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9"/>
          <p:cNvSpPr txBox="1"/>
          <p:nvPr/>
        </p:nvSpPr>
        <p:spPr>
          <a:xfrm>
            <a:off x="1057275" y="2891879"/>
            <a:ext cx="105537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1F5F9"/>
                </a:solidFill>
                <a:latin typeface="Outfit"/>
                <a:ea typeface="Outfit"/>
                <a:cs typeface="Outfit"/>
                <a:sym typeface="Outfit"/>
              </a:rPr>
              <a:t>HistGradientBoost:</a:t>
            </a:r>
            <a:r>
              <a:rPr b="0" i="0" lang="en-US" sz="1800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A projekt abszolút győztese. Gyors és kiválóan kezeli a nagy, zajos adatokat.</a:t>
            </a:r>
            <a:endParaRPr/>
          </a:p>
        </p:txBody>
      </p:sp>
      <p:sp>
        <p:nvSpPr>
          <p:cNvPr id="161" name="Google Shape;161;p19"/>
          <p:cNvSpPr txBox="1"/>
          <p:nvPr/>
        </p:nvSpPr>
        <p:spPr>
          <a:xfrm>
            <a:off x="1057275" y="3543300"/>
            <a:ext cx="10553700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1F5F9"/>
                </a:solidFill>
                <a:latin typeface="Outfit"/>
                <a:ea typeface="Outfit"/>
                <a:cs typeface="Outfit"/>
                <a:sym typeface="Outfit"/>
              </a:rPr>
              <a:t>GradientBoost:</a:t>
            </a:r>
            <a:r>
              <a:rPr b="0" i="0" lang="en-US" sz="1800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Nagyon pontos, megbízható választás, ha az idő nem kritikus tényező.</a:t>
            </a:r>
            <a:endParaRPr/>
          </a:p>
        </p:txBody>
      </p:sp>
      <p:sp>
        <p:nvSpPr>
          <p:cNvPr id="162" name="Google Shape;162;p19"/>
          <p:cNvSpPr txBox="1"/>
          <p:nvPr/>
        </p:nvSpPr>
        <p:spPr>
          <a:xfrm>
            <a:off x="1057275" y="4194720"/>
            <a:ext cx="10553700" cy="7313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1F5F9"/>
                </a:solidFill>
                <a:latin typeface="Outfit"/>
                <a:ea typeface="Outfit"/>
                <a:cs typeface="Outfit"/>
                <a:sym typeface="Outfit"/>
              </a:rPr>
              <a:t>AdaBoost:</a:t>
            </a:r>
            <a:r>
              <a:rPr b="0" i="0" lang="en-US" sz="1800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 Jó alapmodell, de hajlamos "túlgondolni" a zajos adatokat (overfitting), így ott gyengébben teljesít.</a:t>
            </a:r>
            <a:endParaRPr/>
          </a:p>
        </p:txBody>
      </p:sp>
      <p:pic>
        <p:nvPicPr>
          <p:cNvPr descr="image.png" id="163" name="Google Shape;16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939504"/>
            <a:ext cx="23812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4" name="Google Shape;16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3590925"/>
            <a:ext cx="23812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4242345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9"/>
          <p:cNvSpPr txBox="1"/>
          <p:nvPr/>
        </p:nvSpPr>
        <p:spPr>
          <a:xfrm>
            <a:off x="581025" y="581025"/>
            <a:ext cx="11581447" cy="5219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Összegzés</a:t>
            </a:r>
            <a:endParaRPr/>
          </a:p>
        </p:txBody>
      </p:sp>
      <p:sp>
        <p:nvSpPr>
          <p:cNvPr id="167" name="Google Shape;167;p19"/>
          <p:cNvSpPr/>
          <p:nvPr/>
        </p:nvSpPr>
        <p:spPr>
          <a:xfrm>
            <a:off x="581025" y="1274415"/>
            <a:ext cx="1102995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2" name="Google Shape;17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0"/>
          <p:cNvSpPr txBox="1"/>
          <p:nvPr/>
        </p:nvSpPr>
        <p:spPr>
          <a:xfrm>
            <a:off x="3585686" y="2276475"/>
            <a:ext cx="5020627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0" u="none" cap="none" strike="noStrik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Kérdések?</a:t>
            </a:r>
            <a:endParaRPr/>
          </a:p>
        </p:txBody>
      </p:sp>
      <p:sp>
        <p:nvSpPr>
          <p:cNvPr id="174" name="Google Shape;174;p20"/>
          <p:cNvSpPr txBox="1"/>
          <p:nvPr/>
        </p:nvSpPr>
        <p:spPr>
          <a:xfrm>
            <a:off x="3705225" y="3609975"/>
            <a:ext cx="47815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Köszönöm a figyelmet!</a:t>
            </a:r>
            <a:endParaRPr/>
          </a:p>
        </p:txBody>
      </p:sp>
      <p:sp>
        <p:nvSpPr>
          <p:cNvPr id="175" name="Google Shape;175;p20"/>
          <p:cNvSpPr txBox="1"/>
          <p:nvPr/>
        </p:nvSpPr>
        <p:spPr>
          <a:xfrm>
            <a:off x="3705225" y="4391025"/>
            <a:ext cx="478155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3335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Outfit"/>
                <a:ea typeface="Outfit"/>
                <a:cs typeface="Outfit"/>
                <a:sym typeface="Outfit"/>
              </a:rPr>
              <a:t> Készült Python &amp; Scikit-Learn használatával</a:t>
            </a:r>
            <a:endParaRPr/>
          </a:p>
        </p:txBody>
      </p:sp>
      <p:pic>
        <p:nvPicPr>
          <p:cNvPr descr="image.png" id="176" name="Google Shape;176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29137" y="4410075"/>
            <a:ext cx="133350" cy="1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1" name="Google Shape;18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1"/>
          <p:cNvSpPr/>
          <p:nvPr/>
        </p:nvSpPr>
        <p:spPr>
          <a:xfrm>
            <a:off x="581025" y="3479452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1"/>
          <p:cNvSpPr/>
          <p:nvPr/>
        </p:nvSpPr>
        <p:spPr>
          <a:xfrm>
            <a:off x="581025" y="4264223"/>
            <a:ext cx="1102995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84" name="Google Shape;184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1025" y="285363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1"/>
          <p:cNvSpPr txBox="1"/>
          <p:nvPr/>
        </p:nvSpPr>
        <p:spPr>
          <a:xfrm>
            <a:off x="1676400" y="2847082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https://machinelearningmastery.com/wp-content/uploads/2020/03/Scatter-Plot-of-Binary-Classification-Dataset-With-2D-Feature-Space.png</a:t>
            </a:r>
            <a:endParaRPr/>
          </a:p>
        </p:txBody>
      </p:sp>
      <p:sp>
        <p:nvSpPr>
          <p:cNvPr id="186" name="Google Shape;186;p21"/>
          <p:cNvSpPr txBox="1"/>
          <p:nvPr/>
        </p:nvSpPr>
        <p:spPr>
          <a:xfrm>
            <a:off x="1676400" y="3092797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machinelearningmastery.com</a:t>
            </a:r>
            <a:endParaRPr/>
          </a:p>
        </p:txBody>
      </p:sp>
      <p:pic>
        <p:nvPicPr>
          <p:cNvPr descr="image.png" id="187" name="Google Shape;187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363840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1"/>
          <p:cNvSpPr txBox="1"/>
          <p:nvPr/>
        </p:nvSpPr>
        <p:spPr>
          <a:xfrm>
            <a:off x="1676400" y="3631852"/>
            <a:ext cx="9934575" cy="198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https://i.sstatic.net/JrIYX.png</a:t>
            </a:r>
            <a:endParaRPr/>
          </a:p>
        </p:txBody>
      </p:sp>
      <p:sp>
        <p:nvSpPr>
          <p:cNvPr id="189" name="Google Shape;189;p21"/>
          <p:cNvSpPr txBox="1"/>
          <p:nvPr/>
        </p:nvSpPr>
        <p:spPr>
          <a:xfrm>
            <a:off x="1676400" y="3877567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datascience.stackexchange.com</a:t>
            </a:r>
            <a:endParaRPr/>
          </a:p>
        </p:txBody>
      </p:sp>
      <p:pic>
        <p:nvPicPr>
          <p:cNvPr descr="image.png" id="190" name="Google Shape;190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1025" y="452229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1"/>
          <p:cNvSpPr txBox="1"/>
          <p:nvPr/>
        </p:nvSpPr>
        <p:spPr>
          <a:xfrm>
            <a:off x="1676400" y="4416623"/>
            <a:ext cx="9934575" cy="396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https://static.vecteezy.com/system/resources/previews/066/382/850/non_2x/neural-network-background-with-ai-data-in-abstract-blue-lines-wave-tech-science-with-artificial-flow-and-digital-light-future-graphic-technology-pattern-in-3d-big-data-concept-vector.jpg</a:t>
            </a:r>
            <a:endParaRPr/>
          </a:p>
        </p:txBody>
      </p:sp>
      <p:sp>
        <p:nvSpPr>
          <p:cNvPr id="192" name="Google Shape;192;p21"/>
          <p:cNvSpPr txBox="1"/>
          <p:nvPr/>
        </p:nvSpPr>
        <p:spPr>
          <a:xfrm>
            <a:off x="1676400" y="4860428"/>
            <a:ext cx="993457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CBD5E1"/>
                </a:solidFill>
                <a:latin typeface="Outfit"/>
                <a:ea typeface="Outfit"/>
                <a:cs typeface="Outfit"/>
                <a:sym typeface="Outfit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Outfit"/>
                <a:ea typeface="Outfit"/>
                <a:cs typeface="Outfit"/>
                <a:sym typeface="Outfit"/>
              </a:rPr>
              <a:t>www.vecteezy.com</a:t>
            </a:r>
            <a:endParaRPr/>
          </a:p>
        </p:txBody>
      </p:sp>
      <p:sp>
        <p:nvSpPr>
          <p:cNvPr id="193" name="Google Shape;193;p21"/>
          <p:cNvSpPr txBox="1"/>
          <p:nvPr/>
        </p:nvSpPr>
        <p:spPr>
          <a:xfrm>
            <a:off x="581025" y="581025"/>
            <a:ext cx="11581447" cy="5219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997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38BDF8"/>
                </a:solidFill>
                <a:latin typeface="Space Grotesk"/>
                <a:ea typeface="Space Grotesk"/>
                <a:cs typeface="Space Grotesk"/>
                <a:sym typeface="Space Grotesk"/>
              </a:rPr>
              <a:t>Image Sources</a:t>
            </a:r>
            <a:endParaRPr/>
          </a:p>
        </p:txBody>
      </p:sp>
      <p:sp>
        <p:nvSpPr>
          <p:cNvPr id="194" name="Google Shape;194;p21"/>
          <p:cNvSpPr/>
          <p:nvPr/>
        </p:nvSpPr>
        <p:spPr>
          <a:xfrm>
            <a:off x="581025" y="1274415"/>
            <a:ext cx="11029950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