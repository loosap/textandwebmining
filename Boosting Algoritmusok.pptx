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5" r:id="rId6"/>
    <p:sldId id="261" r:id="rId7"/>
    <p:sldId id="264" r:id="rId8"/>
  </p:sldIdLst>
  <p:sldSz cx="12192000" cy="6858000"/>
  <p:notesSz cx="6858000" cy="9144000"/>
  <p:embeddedFontLst>
    <p:embeddedFont>
      <p:font typeface="Outfit" panose="020B0604020202020204" charset="0"/>
      <p:regular r:id="rId10"/>
      <p:bold r:id="rId11"/>
    </p:embeddedFont>
    <p:embeddedFont>
      <p:font typeface="Space Grotesk" panose="020B0604020202020204" charset="-18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A8A34495-0C88-90D5-D4DB-D4966C84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>
            <a:extLst>
              <a:ext uri="{FF2B5EF4-FFF2-40B4-BE49-F238E27FC236}">
                <a16:creationId xmlns:a16="http://schemas.microsoft.com/office/drawing/2014/main" id="{17B98878-6388-A94A-91A3-27BC516B8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5D2B9AD7-5041-199A-DAAE-EB7233708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22369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449883"/>
            <a:ext cx="8572500" cy="395823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05513" y="2030908"/>
            <a:ext cx="7780972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Boosting Algoritmusok Összehasonlítása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390775" y="3729930"/>
            <a:ext cx="7410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AdaBoost vs GradientBoost vs HistGradientBoost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390775" y="4381351"/>
            <a:ext cx="74104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35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Készítette: </a:t>
            </a:r>
            <a:r>
              <a:rPr lang="hu-HU" sz="135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Loós</a:t>
            </a:r>
            <a:r>
              <a:rPr lang="hu-HU" sz="135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András, Tasnádi Attila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81025" y="2223045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Könnyű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2 jellemző (feature), egyértelműen elkülöníthető csoportok.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81025" y="3118395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Közepes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10 jellemző, bonyolultabb összefüggések.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81025" y="3861345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Nehéz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20 jellemző, sok zaj és véletlenszerű adat (zavaró tényezők).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81025" y="581025"/>
            <a:ext cx="11581447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Az </a:t>
            </a:r>
            <a:r>
              <a:rPr lang="en-US" sz="3600" b="1" i="0" u="none" strike="noStrike" cap="none" dirty="0" err="1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Adathalmazok</a:t>
            </a:r>
            <a:endParaRPr dirty="0"/>
          </a:p>
        </p:txBody>
      </p:sp>
      <p:sp>
        <p:nvSpPr>
          <p:cNvPr id="113" name="Google Shape;113;p15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08920"/>
            <a:ext cx="3486150" cy="3274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38387"/>
            <a:ext cx="3486150" cy="3274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38387"/>
            <a:ext cx="3486150" cy="3274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0" y="263366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43100" y="26336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1659016" y="3586162"/>
            <a:ext cx="133016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A5F3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AdaBoost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81025" y="3992879"/>
            <a:ext cx="34861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Szekvenciálisan javíja az adatokat. Minden mintára fókuszál, ami „nehéz” volt az előző iterációban. Érzékeny a zajos adatra.</a:t>
            </a:r>
            <a:endParaRPr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5105876" y="3586162"/>
            <a:ext cx="198024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A5F3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GradientBoost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48199" y="4107149"/>
            <a:ext cx="289560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hu-HU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Az előző iteráció hibájára fókuszál. Lassabb viszont pontosabb eredménnyel szolgál mint az AdaBoost</a:t>
            </a:r>
            <a:endParaRPr lang="hu-HU" dirty="0"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86900" y="26336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8612743" y="3586162"/>
            <a:ext cx="251031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A5F3FC"/>
                </a:solidFill>
                <a:latin typeface="Space Grotesk"/>
                <a:ea typeface="Space Grotesk"/>
                <a:cs typeface="Space Grotesk"/>
                <a:sym typeface="Space Grotesk"/>
              </a:rPr>
              <a:t>HistGradientBoost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20100" y="4212877"/>
            <a:ext cx="2895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500" dirty="0" err="1">
                <a:solidFill>
                  <a:srgbClr val="CBD5E1"/>
                </a:solidFill>
                <a:latin typeface="Outfit"/>
                <a:sym typeface="Outfit"/>
              </a:rPr>
              <a:t>Histogram</a:t>
            </a:r>
            <a:r>
              <a:rPr lang="hu-HU" sz="1500" dirty="0">
                <a:solidFill>
                  <a:srgbClr val="CBD5E1"/>
                </a:solidFill>
                <a:latin typeface="Outfit"/>
                <a:sym typeface="Outfit"/>
              </a:rPr>
              <a:t> alapú, kevesebb memóriát használ. Jól skálázódik nagy méretű adatokra.</a:t>
            </a:r>
            <a:endParaRPr dirty="0"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66925" y="278606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67875" y="278606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81025" y="581025"/>
            <a:ext cx="11581447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Modellek</a:t>
            </a:r>
            <a:endParaRPr dirty="0"/>
          </a:p>
        </p:txBody>
      </p:sp>
      <p:sp>
        <p:nvSpPr>
          <p:cNvPr id="134" name="Google Shape;134;p16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1DDB6A79-6C7F-44EB-D33F-AB6303AEB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77" y="2548824"/>
            <a:ext cx="5350121" cy="3070846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814B48A-9D6B-B72A-A704-E18B156E3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832" y="2548824"/>
            <a:ext cx="5190648" cy="3070847"/>
          </a:xfrm>
          <a:prstGeom prst="rect">
            <a:avLst/>
          </a:prstGeom>
        </p:spPr>
      </p:pic>
      <p:sp>
        <p:nvSpPr>
          <p:cNvPr id="8" name="Google Shape;154;p18">
            <a:extLst>
              <a:ext uri="{FF2B5EF4-FFF2-40B4-BE49-F238E27FC236}">
                <a16:creationId xmlns:a16="http://schemas.microsoft.com/office/drawing/2014/main" id="{69A24234-2DA5-69C4-DD6B-4C1084B46626}"/>
              </a:ext>
            </a:extLst>
          </p:cNvPr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8E47DD27-A8AC-21E9-D2A7-23B7300B90A7}"/>
              </a:ext>
            </a:extLst>
          </p:cNvPr>
          <p:cNvSpPr txBox="1"/>
          <p:nvPr/>
        </p:nvSpPr>
        <p:spPr>
          <a:xfrm>
            <a:off x="581025" y="622063"/>
            <a:ext cx="6094476" cy="671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 b="1" i="0" u="none" strike="noStrike" cap="none" dirty="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Probléma </a:t>
            </a:r>
            <a:r>
              <a:rPr lang="hu-HU" sz="3600" b="1" i="0" u="none" strike="noStrike" cap="none" dirty="0" err="1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vs</a:t>
            </a:r>
            <a:r>
              <a:rPr lang="hu-HU" sz="3600" b="1" i="0" u="none" strike="noStrike" cap="none" dirty="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hu-HU" sz="3600" b="1" i="0" u="none" strike="noStrike" cap="none" dirty="0" err="1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Boost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8">
          <a:extLst>
            <a:ext uri="{FF2B5EF4-FFF2-40B4-BE49-F238E27FC236}">
              <a16:creationId xmlns:a16="http://schemas.microsoft.com/office/drawing/2014/main" id="{7DED25DE-6B13-20D0-A29A-E6C3FD262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54;p18">
            <a:extLst>
              <a:ext uri="{FF2B5EF4-FFF2-40B4-BE49-F238E27FC236}">
                <a16:creationId xmlns:a16="http://schemas.microsoft.com/office/drawing/2014/main" id="{155C63AC-5825-93EC-0A6D-85B1788FF17E}"/>
              </a:ext>
            </a:extLst>
          </p:cNvPr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64631AAB-32C1-E785-F882-F055DE8FFADD}"/>
              </a:ext>
            </a:extLst>
          </p:cNvPr>
          <p:cNvSpPr txBox="1"/>
          <p:nvPr/>
        </p:nvSpPr>
        <p:spPr>
          <a:xfrm>
            <a:off x="581024" y="622063"/>
            <a:ext cx="6752463" cy="671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 b="1" i="0" u="none" strike="noStrike" cap="none" dirty="0" err="1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Boost</a:t>
            </a:r>
            <a:r>
              <a:rPr lang="hu-HU" sz="3600" b="1" i="0" u="none" strike="noStrike" cap="none" dirty="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 egy probléma esetén</a:t>
            </a:r>
            <a:endParaRPr lang="en-US" sz="3600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637FD699-4315-EE11-56F6-7E9BDB100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32" y="1607617"/>
            <a:ext cx="8708136" cy="473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378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74466"/>
            <a:ext cx="11029950" cy="460250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Eredmények (Pontosság %)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/>
          <p:nvPr/>
        </p:nvSpPr>
        <p:spPr>
          <a:xfrm>
            <a:off x="581025" y="347945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581025" y="426422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536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1676400" y="2847082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https://machinelearningmastery.com/wp-content/uploads/2020/03/Scatter-Plot-of-Binary-Classification-Dataset-With-2D-Feature-Space.png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1676400" y="309279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machinelearningmastery.com</a:t>
            </a:r>
            <a:endParaRPr dirty="0"/>
          </a:p>
        </p:txBody>
      </p:sp>
      <p:pic>
        <p:nvPicPr>
          <p:cNvPr id="187" name="Google Shape;18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6384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1676400" y="3631852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https://i.sstatic.net/JrIYX.png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1676400" y="387756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datascience.stackexchange.com</a:t>
            </a:r>
            <a:endParaRPr/>
          </a:p>
        </p:txBody>
      </p:sp>
      <p:pic>
        <p:nvPicPr>
          <p:cNvPr id="190" name="Google Shape;19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52229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1676400" y="4416623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https://static.vecteezy.com/system/resources/previews/066/382/850/non_2x/neural-network-background-with-ai-data-in-abstract-blue-lines-wave-tech-science-with-artificial-flow-and-digital-light-future-graphic-technology-pattern-in-3d-big-data-concept-vector.jpg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676400" y="4860428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rPr>
              <a:t>www.vecteezy.com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581025" y="127441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182</Words>
  <Application>Microsoft Office PowerPoint</Application>
  <PresentationFormat>Szélesvásznú</PresentationFormat>
  <Paragraphs>24</Paragraphs>
  <Slides>7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Outfit</vt:lpstr>
      <vt:lpstr>Calibri</vt:lpstr>
      <vt:lpstr>Arial</vt:lpstr>
      <vt:lpstr>Space Grotesk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Attila Tasnádi</cp:lastModifiedBy>
  <cp:revision>3</cp:revision>
  <dcterms:modified xsi:type="dcterms:W3CDTF">2025-11-30T22:29:20Z</dcterms:modified>
</cp:coreProperties>
</file>