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032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  <p:sldId id="265" r:id="rId11"/>
    <p:sldId id="267" r:id="rId12"/>
    <p:sldId id="268" r:id="rId13"/>
  </p:sldIdLst>
  <p:sldSz cx="12192000" cy="6858000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DM Sans" pitchFamily="2" charset="-18"/>
      <p:regular r:id="rId19"/>
      <p:bold r:id="rId20"/>
      <p:italic r:id="rId21"/>
      <p:boldItalic r:id="rId22"/>
    </p:embeddedFont>
    <p:embeddedFont>
      <p:font typeface="Merriweather" panose="00000500000000000000" pitchFamily="2" charset="-18"/>
      <p:regular r:id="rId23"/>
      <p:bold r:id="rId24"/>
      <p:italic r:id="rId25"/>
      <p:boldItalic r:id="rId26"/>
    </p:embeddedFont>
    <p:embeddedFont>
      <p:font typeface="Wingdings 3" panose="05040102010807070707" pitchFamily="18" charset="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22EA93-76BE-474E-B734-5F9B381B14F1}">
  <a:tblStyle styleId="{0822EA93-76BE-474E-B734-5F9B381B14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A9AF8D8A-7ADB-5765-122B-AE14F91A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66EFF387-7E30-4E6B-2E83-C43D823F2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>
            <a:extLst>
              <a:ext uri="{FF2B5EF4-FFF2-40B4-BE49-F238E27FC236}">
                <a16:creationId xmlns:a16="http://schemas.microsoft.com/office/drawing/2014/main" id="{39397B87-689E-109D-15B1-D0274ED70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0169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9066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947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000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014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694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298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30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546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15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59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130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21987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197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901899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70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1734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0117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64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 amt="35000"/>
          </a:blip>
          <a:srcRect t="29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  <a:noFill/>
        </p:spPr>
      </p:pic>
      <p:sp>
        <p:nvSpPr>
          <p:cNvPr id="86" name="Google Shape;86;p13"/>
          <p:cNvSpPr txBox="1"/>
          <p:nvPr/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u="none" strike="noStrike" cap="all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  <a:sym typeface="Merriweather"/>
              </a:rPr>
              <a:t>Klaszterezési Algoritmusok</a:t>
            </a:r>
            <a:endParaRPr lang="en-US" sz="3400" b="1" cap="all">
              <a:effectLst>
                <a:outerShdw blurRad="50800" dist="63500" dir="2700000" algn="tl" rotWithShape="0">
                  <a:srgbClr val="000000">
                    <a:alpha val="48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 i="0" u="none" strike="noStrike" cap="none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sym typeface="DM Sans"/>
              </a:rPr>
              <a:t>Scikit-learn </a:t>
            </a:r>
            <a:r>
              <a:rPr lang="en-US" sz="2400" b="0" i="0" u="none" strike="noStrike" cap="none" dirty="0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sym typeface="DM Sans"/>
              </a:rPr>
              <a:t>modellek</a:t>
            </a:r>
            <a:r>
              <a:rPr lang="en-US" sz="2400" b="0" i="0" u="none" strike="noStrike" cap="none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sym typeface="DM Sans"/>
              </a:rPr>
              <a:t> </a:t>
            </a:r>
            <a:r>
              <a:rPr lang="en-US" sz="2400" b="0" i="0" u="none" strike="noStrike" cap="none" dirty="0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sym typeface="DM Sans"/>
              </a:rPr>
              <a:t>összehasonlítása</a:t>
            </a:r>
            <a:endParaRPr lang="en-US" sz="2400" b="0" i="0" u="none" strike="noStrike" cap="none" dirty="0"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  <a:sym typeface="DM Sans"/>
            </a:endParaRPr>
          </a:p>
          <a:p>
            <a:pPr marL="0" marR="0" lvl="0" indent="-22860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sym typeface="DM Sans"/>
              </a:rPr>
              <a:t>Készítette</a:t>
            </a:r>
            <a:r>
              <a:rPr 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sym typeface="DM Sans"/>
              </a:rPr>
              <a:t>: </a:t>
            </a:r>
            <a:r>
              <a:rPr lang="en-US" dirty="0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sym typeface="DM Sans"/>
              </a:rPr>
              <a:t>Loós</a:t>
            </a:r>
            <a:r>
              <a:rPr lang="en-US" dirty="0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sym typeface="DM Sans"/>
              </a:rPr>
              <a:t> András, Tasnádi Attila</a:t>
            </a:r>
            <a:endParaRPr lang="en-US" dirty="0"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39169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639169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639169"/>
            <a:ext cx="3492549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805237" y="792063"/>
            <a:ext cx="4810601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Használt Modellek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524001" y="3715494"/>
            <a:ext cx="140877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K-Means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4391769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Partícióalapú. Gömb alakú csoportokat keres. Gyors, de rugalmatlan.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495925" y="3715494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DBSCAN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35549" y="4391769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Sűrűségalapú. Bármilyen alakzatot felismer és kezeli a zajt.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44145" y="3715494"/>
            <a:ext cx="246030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 Mixture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13849" y="4391769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Valószínűségi modell. "Lágy" klaszterezés, rugalmasabb a K-Means-nél.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24881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624881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624881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3552825" y="792063"/>
            <a:ext cx="534066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Adathalmaz Típusok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331862" y="5339506"/>
            <a:ext cx="1971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Jól elkülönülő (Blobs)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200650" y="5339506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Hold alakú (Moons)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026574" y="5339506"/>
            <a:ext cx="1695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Kör alakú (Circles)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24881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49799" y="2624881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28099" y="2624881"/>
            <a:ext cx="3492549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3986212" y="792063"/>
            <a:ext cx="443055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Hogyan mérünk?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3448794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Silhouette Score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3982194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mér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Mennyire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vannak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távol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egymástól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klaszterek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és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mennyire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tömörek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4782294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Tartomány: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-1 (rossz) és +1 (tökéletes) között.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34125" y="3448794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Adjusted Rand Index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34125" y="3982194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 mér?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Mennyire egyezik a gép által talált csoportosítás a valósággal.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34125" y="4782294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Tartomány: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0 (véletlenszerű) és 1 (tökéletes egyezés) között.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/>
        </p:nvSpPr>
        <p:spPr>
          <a:xfrm>
            <a:off x="2595562" y="792063"/>
            <a:ext cx="73509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</a:t>
            </a:r>
            <a:r>
              <a:rPr lang="en-US" sz="39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Teszt</a:t>
            </a:r>
            <a:r>
              <a:rPr lang="en-US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en-US" sz="39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Egyszerű</a:t>
            </a:r>
            <a:r>
              <a:rPr lang="en-US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9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Csoportok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3067794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Eredmény: Döntetlen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42950" y="356309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09625" y="3563094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K-Means: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Kiváló (0.95)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42950" y="396314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09625" y="3963144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DBSCAN: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Kiváló (0.94)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42950" y="436319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09625" y="4363194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Gaussian: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Kiváló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(0.93)</a:t>
            </a:r>
            <a:endParaRPr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3DE84F7C-EC98-2A88-D575-E400BA7EA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598" y="2402946"/>
            <a:ext cx="7052573" cy="178805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A3D5C91-3D1B-4BF6-890A-116B89FA6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598" y="4649033"/>
            <a:ext cx="6940602" cy="1855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571500" y="903535"/>
            <a:ext cx="505063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Teszt: Hold Alakzatok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757362" y="2668190"/>
            <a:ext cx="25603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K-Means bukása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28687" y="330636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95362" y="330636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rPr>
              <a:t>✗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K-Means: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Rossz (0.35). Kettévágja a holdakat.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28687" y="370641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95362" y="370641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DBSCAN: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Tökéletes (0.92). Felismeri az íveket.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28687" y="410646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95362" y="410646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rPr>
              <a:t>✗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Gaussian: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Gyenge (0.40).</a:t>
            </a:r>
            <a:endParaRPr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47539E2-A5C2-AFB6-FDC2-4BC6D6E1D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562" y="2127977"/>
            <a:ext cx="6896946" cy="176622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E34C231-9238-CB90-6996-B3D6D28AB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26" y="4011215"/>
            <a:ext cx="6735018" cy="17449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3286125" y="792063"/>
            <a:ext cx="590073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Teszt: Kör Alakzatok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3267819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Csak a sűrűség nyer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49299" y="3826103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09625" y="3763119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rPr>
              <a:t>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K-Means: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hu-HU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 különböző részre osztja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754062" y="422770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809625" y="416316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DBSCAN: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Felismeri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belső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és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külső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kört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" name="Google Shape;190;p20">
            <a:extLst>
              <a:ext uri="{FF2B5EF4-FFF2-40B4-BE49-F238E27FC236}">
                <a16:creationId xmlns:a16="http://schemas.microsoft.com/office/drawing/2014/main" id="{66BB74E3-1B6A-5515-1891-463C63BBE811}"/>
              </a:ext>
            </a:extLst>
          </p:cNvPr>
          <p:cNvSpPr txBox="1"/>
          <p:nvPr/>
        </p:nvSpPr>
        <p:spPr>
          <a:xfrm>
            <a:off x="742950" y="4563219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rPr>
              <a:t>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K-Means: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hu-HU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 különböző részre osztja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3" name="Google Shape;191;p20">
            <a:extLst>
              <a:ext uri="{FF2B5EF4-FFF2-40B4-BE49-F238E27FC236}">
                <a16:creationId xmlns:a16="http://schemas.microsoft.com/office/drawing/2014/main" id="{582259B5-AB8C-DA78-4780-B99DA3176E62}"/>
              </a:ext>
            </a:extLst>
          </p:cNvPr>
          <p:cNvSpPr txBox="1"/>
          <p:nvPr/>
        </p:nvSpPr>
        <p:spPr>
          <a:xfrm>
            <a:off x="742950" y="465846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04AF0A3-E58F-48C7-6104-7C10513E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00" y="2519144"/>
            <a:ext cx="7233498" cy="181971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08DB9C8-2BD3-D2CA-8575-69E28026D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712" y="4227701"/>
            <a:ext cx="7233498" cy="19095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>
          <a:extLst>
            <a:ext uri="{FF2B5EF4-FFF2-40B4-BE49-F238E27FC236}">
              <a16:creationId xmlns:a16="http://schemas.microsoft.com/office/drawing/2014/main" id="{2E0C9F7F-39F1-7FCE-EA47-75D45A7D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2813CC62-CC22-B8C3-45CF-D1020280CB5D}"/>
              </a:ext>
            </a:extLst>
          </p:cNvPr>
          <p:cNvSpPr txBox="1"/>
          <p:nvPr/>
        </p:nvSpPr>
        <p:spPr>
          <a:xfrm>
            <a:off x="2141537" y="677763"/>
            <a:ext cx="79089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r>
              <a:rPr lang="en-US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. </a:t>
            </a:r>
            <a:r>
              <a:rPr lang="en-US" sz="39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Teszt</a:t>
            </a:r>
            <a:r>
              <a:rPr lang="en-US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hu-HU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Egyenetlen s</a:t>
            </a:r>
            <a:r>
              <a:rPr lang="hu-HU" sz="39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űrűségű</a:t>
            </a:r>
            <a:endParaRPr lang="hu-HU" sz="3900" b="1" i="0" u="none" strike="noStrike" cap="none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" name="Google Shape;186;p20">
            <a:extLst>
              <a:ext uri="{FF2B5EF4-FFF2-40B4-BE49-F238E27FC236}">
                <a16:creationId xmlns:a16="http://schemas.microsoft.com/office/drawing/2014/main" id="{F80A30D2-51E2-A1C2-E783-17C05281C979}"/>
              </a:ext>
            </a:extLst>
          </p:cNvPr>
          <p:cNvSpPr txBox="1"/>
          <p:nvPr/>
        </p:nvSpPr>
        <p:spPr>
          <a:xfrm>
            <a:off x="571500" y="3267819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Csak a sűrűség nyer</a:t>
            </a:r>
            <a:endParaRPr/>
          </a:p>
        </p:txBody>
      </p:sp>
      <p:sp>
        <p:nvSpPr>
          <p:cNvPr id="189" name="Google Shape;189;p20">
            <a:extLst>
              <a:ext uri="{FF2B5EF4-FFF2-40B4-BE49-F238E27FC236}">
                <a16:creationId xmlns:a16="http://schemas.microsoft.com/office/drawing/2014/main" id="{090F010C-A072-9F08-1283-D9535FD50853}"/>
              </a:ext>
            </a:extLst>
          </p:cNvPr>
          <p:cNvSpPr txBox="1"/>
          <p:nvPr/>
        </p:nvSpPr>
        <p:spPr>
          <a:xfrm>
            <a:off x="749299" y="3826103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0" name="Google Shape;190;p20">
            <a:extLst>
              <a:ext uri="{FF2B5EF4-FFF2-40B4-BE49-F238E27FC236}">
                <a16:creationId xmlns:a16="http://schemas.microsoft.com/office/drawing/2014/main" id="{BD3C7943-69E4-B5BD-AAB6-C105CD8CE4EB}"/>
              </a:ext>
            </a:extLst>
          </p:cNvPr>
          <p:cNvSpPr txBox="1"/>
          <p:nvPr/>
        </p:nvSpPr>
        <p:spPr>
          <a:xfrm>
            <a:off x="809625" y="3763119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rPr>
              <a:t>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K-Means: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hu-HU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 különböző részre osztja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91" name="Google Shape;191;p20">
            <a:extLst>
              <a:ext uri="{FF2B5EF4-FFF2-40B4-BE49-F238E27FC236}">
                <a16:creationId xmlns:a16="http://schemas.microsoft.com/office/drawing/2014/main" id="{32DCE240-FBDE-F3ED-6536-CF6A2385479E}"/>
              </a:ext>
            </a:extLst>
          </p:cNvPr>
          <p:cNvSpPr txBox="1"/>
          <p:nvPr/>
        </p:nvSpPr>
        <p:spPr>
          <a:xfrm>
            <a:off x="754062" y="422770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92" name="Google Shape;192;p20">
            <a:extLst>
              <a:ext uri="{FF2B5EF4-FFF2-40B4-BE49-F238E27FC236}">
                <a16:creationId xmlns:a16="http://schemas.microsoft.com/office/drawing/2014/main" id="{38F765C4-6B31-759C-D135-7F327CEB9AA3}"/>
              </a:ext>
            </a:extLst>
          </p:cNvPr>
          <p:cNvSpPr txBox="1"/>
          <p:nvPr/>
        </p:nvSpPr>
        <p:spPr>
          <a:xfrm>
            <a:off x="809624" y="4163169"/>
            <a:ext cx="5445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6A34A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DBSCAN: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hu-HU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Kis pontatlansággal, de legközelebb a valósághoz</a:t>
            </a:r>
            <a:endParaRPr dirty="0"/>
          </a:p>
        </p:txBody>
      </p:sp>
      <p:sp>
        <p:nvSpPr>
          <p:cNvPr id="2" name="Google Shape;190;p20">
            <a:extLst>
              <a:ext uri="{FF2B5EF4-FFF2-40B4-BE49-F238E27FC236}">
                <a16:creationId xmlns:a16="http://schemas.microsoft.com/office/drawing/2014/main" id="{81C4F181-7A89-958E-78A5-B89FBDDAA408}"/>
              </a:ext>
            </a:extLst>
          </p:cNvPr>
          <p:cNvSpPr txBox="1"/>
          <p:nvPr/>
        </p:nvSpPr>
        <p:spPr>
          <a:xfrm>
            <a:off x="742950" y="4563219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rPr>
              <a:t>✗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K-Means: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hu-HU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 különböző részre osztja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3" name="Google Shape;191;p20">
            <a:extLst>
              <a:ext uri="{FF2B5EF4-FFF2-40B4-BE49-F238E27FC236}">
                <a16:creationId xmlns:a16="http://schemas.microsoft.com/office/drawing/2014/main" id="{4BBC4C5C-62D4-CDC3-08AE-CD40583B8143}"/>
              </a:ext>
            </a:extLst>
          </p:cNvPr>
          <p:cNvSpPr txBox="1"/>
          <p:nvPr/>
        </p:nvSpPr>
        <p:spPr>
          <a:xfrm>
            <a:off x="742950" y="465846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9BB60BA-8148-1086-79F9-15400AC10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446" y="2381267"/>
            <a:ext cx="7026054" cy="174963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5B519BCB-4B34-F755-8BA9-8E6EA1226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4532501"/>
            <a:ext cx="7117593" cy="18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8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72494"/>
            <a:ext cx="110490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2971800" y="792063"/>
            <a:ext cx="656082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Scikit-learn Megvalósítás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3324225" y="5391894"/>
            <a:ext cx="5543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szabványos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interfész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miatt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könnyű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cserélni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az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algoritmusokat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/>
        </p:nvSpPr>
        <p:spPr>
          <a:xfrm>
            <a:off x="3333750" y="792063"/>
            <a:ext cx="58007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Összesítő Eredmények</a:t>
            </a:r>
            <a:endParaRPr/>
          </a:p>
        </p:txBody>
      </p:sp>
      <p:graphicFrame>
        <p:nvGraphicFramePr>
          <p:cNvPr id="207" name="Google Shape;207;p22"/>
          <p:cNvGraphicFramePr/>
          <p:nvPr>
            <p:extLst>
              <p:ext uri="{D42A27DB-BD31-4B8C-83A1-F6EECF244321}">
                <p14:modId xmlns:p14="http://schemas.microsoft.com/office/powerpoint/2010/main" val="776222865"/>
              </p:ext>
            </p:extLst>
          </p:nvPr>
        </p:nvGraphicFramePr>
        <p:xfrm>
          <a:off x="3305175" y="2834431"/>
          <a:ext cx="5581650" cy="2981375"/>
        </p:xfrm>
        <a:graphic>
          <a:graphicData uri="http://schemas.openxmlformats.org/drawingml/2006/table">
            <a:tbl>
              <a:tblPr firstRow="1" bandRow="1">
                <a:noFill/>
                <a:tableStyleId>{0822EA93-76BE-474E-B734-5F9B381B14F1}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Adathalmaz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K-Means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DBSCAN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Gaussian Mix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Egyszerű (Blobs)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Kiváló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Kiváló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Kiváló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Holdak (Moons)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Rossz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Kiváló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Gyenge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Körök (Circles)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Rossz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Kiváló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Gyenge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Egyenetlen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Rossz</a:t>
                      </a:r>
                      <a:endParaRPr lang="en-US"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500" b="1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Közepes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Rossz</a:t>
                      </a:r>
                      <a:endParaRPr lang="en-US"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8" name="Google Shape;208;p22"/>
          <p:cNvSpPr/>
          <p:nvPr/>
        </p:nvSpPr>
        <p:spPr>
          <a:xfrm>
            <a:off x="3305175" y="4010769"/>
            <a:ext cx="1847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153025" y="4010769"/>
            <a:ext cx="1133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286500" y="4010769"/>
            <a:ext cx="1076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7362825" y="4010769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305175" y="4610844"/>
            <a:ext cx="1847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153025" y="4610844"/>
            <a:ext cx="1133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286500" y="4610844"/>
            <a:ext cx="1076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362825" y="4610844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305175" y="5210919"/>
            <a:ext cx="1847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153025" y="5210919"/>
            <a:ext cx="1133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6286500" y="5210919"/>
            <a:ext cx="1076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362825" y="5210919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/>
        </p:nvSpPr>
        <p:spPr>
          <a:xfrm>
            <a:off x="3281362" y="2834431"/>
            <a:ext cx="591073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Köszönöm a figyelmet!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/>
        </p:nvSpPr>
        <p:spPr>
          <a:xfrm>
            <a:off x="4310062" y="792063"/>
            <a:ext cx="375046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571500" y="31469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9317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4716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55012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221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666875" y="231650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https://png.pngtree.com/thumb_back/fh260/background/20251031/pngtree-advanced-robot-analyzing-data-futuristic-interface-ai-technology-sci-fi-concept-image_20139244.webp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66875" y="27603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pngtree.com</a:t>
            </a:r>
            <a:endParaRPr/>
          </a:p>
        </p:txBody>
      </p:sp>
      <p:pic>
        <p:nvPicPr>
          <p:cNvPr id="254" name="Google Shape;25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059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66875" y="32993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https://scikit-learn.org/stable/_images/sphx_glr_plot_kmeans_assumptions_001.png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66875" y="35450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scikit-learn.org</a:t>
            </a:r>
            <a:endParaRPr/>
          </a:p>
        </p:txBody>
      </p:sp>
      <p:pic>
        <p:nvPicPr>
          <p:cNvPr id="257" name="Google Shape;25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906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66875" y="40841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https://miro.medium.com/v2/resize:fit:1400/0*jLv06qSJc2rpqMiV.jpeg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66875" y="432985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pic>
        <p:nvPicPr>
          <p:cNvPr id="260" name="Google Shape;26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754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48689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https://cdn.analyticsvidhya.com/wp-content/uploads/2020/03/db4-1.png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51146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www.analyticsvidhya.com</a:t>
            </a:r>
            <a:endParaRPr/>
          </a:p>
        </p:txBody>
      </p:sp>
      <p:pic>
        <p:nvPicPr>
          <p:cNvPr id="263" name="Google Shape;26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6602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565368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https://image.slidesdocs.com/responsive-images/background/blue-digital-with-3d-network-connection-structure-powerpoint-background_5d859706a5__960_540.jpg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58993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slidesdocs.com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zele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TM02900771[[fn=Szelet]]</Template>
  <TotalTime>23</TotalTime>
  <Words>461</Words>
  <Application>Microsoft Office PowerPoint</Application>
  <PresentationFormat>Szélesvásznú</PresentationFormat>
  <Paragraphs>88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9" baseType="lpstr">
      <vt:lpstr>DM Sans</vt:lpstr>
      <vt:lpstr>Century Gothic</vt:lpstr>
      <vt:lpstr>Merriweather</vt:lpstr>
      <vt:lpstr>Calibri</vt:lpstr>
      <vt:lpstr>Arial</vt:lpstr>
      <vt:lpstr>Wingdings 3</vt:lpstr>
      <vt:lpstr>Szelet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Attila Tasnádi</cp:lastModifiedBy>
  <cp:revision>11</cp:revision>
  <dcterms:modified xsi:type="dcterms:W3CDTF">2025-11-30T21:43:38Z</dcterms:modified>
</cp:coreProperties>
</file>