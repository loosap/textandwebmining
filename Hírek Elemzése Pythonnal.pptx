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embeddedFontLst>
    <p:embeddedFont>
      <p:font typeface="Urbanist" panose="020B0604020202020204" charset="-18"/>
      <p:regular r:id="rId12"/>
      <p:bold r:id="rId13"/>
      <p:italic r:id="rId14"/>
      <p:boldItalic r:id="rId1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9" d="100"/>
          <a:sy n="69" d="100"/>
        </p:scale>
        <p:origin x="936" y="78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2.fntdata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1.fntdata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font" Target="fonts/font4.fntdata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" name="Google Shape;9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6" name="Google Shape;106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6" name="Google Shape;126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3" name="Google Shape;143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3" name="Google Shape;163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0" name="Google Shape;180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7" name="Google Shape;197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4" name="Google Shape;204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10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Relationship Id="rId9" Type="http://schemas.openxmlformats.org/officeDocument/2006/relationships/image" Target="../media/image1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17.png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1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19.png"/><Relationship Id="rId7" Type="http://schemas.openxmlformats.org/officeDocument/2006/relationships/image" Target="../media/image2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5.png"/><Relationship Id="rId9" Type="http://schemas.openxmlformats.org/officeDocument/2006/relationships/image" Target="../media/image2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3"/>
          <p:cNvSpPr txBox="1"/>
          <p:nvPr/>
        </p:nvSpPr>
        <p:spPr>
          <a:xfrm>
            <a:off x="571500" y="2051744"/>
            <a:ext cx="6380797" cy="15085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400" b="1" i="0" u="none" strike="noStrike" cap="none">
                <a:solidFill>
                  <a:srgbClr val="F1F5F9"/>
                </a:solidFill>
                <a:latin typeface="Urbanist"/>
                <a:ea typeface="Urbanist"/>
                <a:cs typeface="Urbanist"/>
                <a:sym typeface="Urbanist"/>
              </a:rPr>
              <a:t>RSS Hírek Elemzése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5400" b="1" i="0" u="none" strike="noStrike" cap="none">
                <a:solidFill>
                  <a:srgbClr val="3B82F6"/>
                </a:solidFill>
                <a:latin typeface="Urbanist"/>
                <a:ea typeface="Urbanist"/>
                <a:cs typeface="Urbanist"/>
                <a:sym typeface="Urbanist"/>
              </a:rPr>
              <a:t>Pythonnal</a:t>
            </a:r>
            <a:endParaRPr/>
          </a:p>
        </p:txBody>
      </p:sp>
      <p:sp>
        <p:nvSpPr>
          <p:cNvPr id="86" name="Google Shape;86;p13"/>
          <p:cNvSpPr txBox="1"/>
          <p:nvPr/>
        </p:nvSpPr>
        <p:spPr>
          <a:xfrm>
            <a:off x="571500" y="3826966"/>
            <a:ext cx="6076950" cy="4266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995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Automatikus adatgyűjtés és vizualizáció</a:t>
            </a:r>
            <a:endParaRPr/>
          </a:p>
        </p:txBody>
      </p:sp>
      <p:sp>
        <p:nvSpPr>
          <p:cNvPr id="87" name="Google Shape;87;p13"/>
          <p:cNvSpPr txBox="1"/>
          <p:nvPr/>
        </p:nvSpPr>
        <p:spPr>
          <a:xfrm>
            <a:off x="571500" y="4605262"/>
            <a:ext cx="6076950" cy="184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/>
            <a:r>
              <a:rPr lang="en-US" sz="1200" b="0" i="0" u="none" strike="noStrike" cap="none" dirty="0" err="1">
                <a:solidFill>
                  <a:srgbClr val="64748B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Készítette</a:t>
            </a:r>
            <a:r>
              <a:rPr lang="en-US" sz="1200" b="0" i="0" u="none" strike="noStrike" cap="none" dirty="0">
                <a:solidFill>
                  <a:srgbClr val="64748B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:</a:t>
            </a:r>
            <a:r>
              <a:rPr lang="hu-HU" sz="1200" dirty="0">
                <a:solidFill>
                  <a:srgbClr val="64748B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Loós András és</a:t>
            </a:r>
            <a:r>
              <a:rPr lang="en-US" sz="1200" b="0" i="0" u="none" strike="noStrike" cap="none" dirty="0">
                <a:solidFill>
                  <a:srgbClr val="64748B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hu-HU" sz="1200" b="0" i="0" u="none" strike="noStrike" cap="none" dirty="0">
                <a:solidFill>
                  <a:srgbClr val="64748B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Tasnádi Attila</a:t>
            </a:r>
            <a:endParaRPr dirty="0"/>
          </a:p>
        </p:txBody>
      </p:sp>
      <p:pic>
        <p:nvPicPr>
          <p:cNvPr id="88" name="Google Shape;88;p13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7334250" y="1714500"/>
            <a:ext cx="4286250" cy="33337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3" name="Google Shape;93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14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81750" y="2190750"/>
            <a:ext cx="5238750" cy="3810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14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391275" y="2200275"/>
            <a:ext cx="5219700" cy="3790950"/>
          </a:xfrm>
          <a:prstGeom prst="rect">
            <a:avLst/>
          </a:prstGeom>
          <a:noFill/>
          <a:ln>
            <a:noFill/>
          </a:ln>
        </p:spPr>
      </p:pic>
      <p:sp>
        <p:nvSpPr>
          <p:cNvPr id="96" name="Google Shape;96;p14"/>
          <p:cNvSpPr txBox="1"/>
          <p:nvPr/>
        </p:nvSpPr>
        <p:spPr>
          <a:xfrm>
            <a:off x="857250" y="3124200"/>
            <a:ext cx="495300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Probléma:</a:t>
            </a:r>
            <a:r>
              <a:rPr lang="en-US" sz="150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6 különböző hírportált (Telex, 24.hu, stb.) egyesével átnézni sok idő.</a:t>
            </a:r>
            <a:endParaRPr/>
          </a:p>
        </p:txBody>
      </p:sp>
      <p:sp>
        <p:nvSpPr>
          <p:cNvPr id="97" name="Google Shape;97;p14"/>
          <p:cNvSpPr txBox="1"/>
          <p:nvPr/>
        </p:nvSpPr>
        <p:spPr>
          <a:xfrm>
            <a:off x="857250" y="3924300"/>
            <a:ext cx="495300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Megoldás:</a:t>
            </a:r>
            <a:r>
              <a:rPr lang="en-US" sz="150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Egy Python program, ami automatikusan letölti a cikkeket.</a:t>
            </a:r>
            <a:endParaRPr/>
          </a:p>
        </p:txBody>
      </p:sp>
      <p:sp>
        <p:nvSpPr>
          <p:cNvPr id="98" name="Google Shape;98;p14"/>
          <p:cNvSpPr txBox="1"/>
          <p:nvPr/>
        </p:nvSpPr>
        <p:spPr>
          <a:xfrm>
            <a:off x="857250" y="4724400"/>
            <a:ext cx="49530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Extra:</a:t>
            </a:r>
            <a:r>
              <a:rPr lang="en-US" sz="150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Mesterséges intelligenciával elemezzük a tartalmat.</a:t>
            </a:r>
            <a:endParaRPr/>
          </a:p>
        </p:txBody>
      </p:sp>
      <p:sp>
        <p:nvSpPr>
          <p:cNvPr id="99" name="Google Shape;99;p14"/>
          <p:cNvSpPr txBox="1"/>
          <p:nvPr/>
        </p:nvSpPr>
        <p:spPr>
          <a:xfrm>
            <a:off x="571500" y="571500"/>
            <a:ext cx="1160145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F1F5F9"/>
                </a:solidFill>
                <a:latin typeface="Urbanist"/>
                <a:ea typeface="Urbanist"/>
                <a:cs typeface="Urbanist"/>
                <a:sym typeface="Urbanist"/>
              </a:rPr>
              <a:t>A Projekt Célja</a:t>
            </a:r>
            <a:endParaRPr/>
          </a:p>
        </p:txBody>
      </p:sp>
      <p:sp>
        <p:nvSpPr>
          <p:cNvPr id="100" name="Google Shape;100;p14"/>
          <p:cNvSpPr/>
          <p:nvPr/>
        </p:nvSpPr>
        <p:spPr>
          <a:xfrm>
            <a:off x="571500" y="1314450"/>
            <a:ext cx="11049000" cy="1905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1" name="Google Shape;101;p14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71500" y="3162300"/>
            <a:ext cx="19050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14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71500" y="3962400"/>
            <a:ext cx="19050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3" name="Google Shape;103;p14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71500" y="4762500"/>
            <a:ext cx="190500" cy="2000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1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1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990725" y="3195637"/>
            <a:ext cx="476250" cy="476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857875" y="3195637"/>
            <a:ext cx="476250" cy="476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1" name="Google Shape;111;p15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9725025" y="3195637"/>
            <a:ext cx="476250" cy="476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2" name="Google Shape;112;p15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571500" y="3195637"/>
            <a:ext cx="3314700" cy="2181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3" name="Google Shape;113;p15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4438650" y="3195637"/>
            <a:ext cx="3314700" cy="2181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4" name="Google Shape;114;p15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8305800" y="3195637"/>
            <a:ext cx="3314700" cy="2181225"/>
          </a:xfrm>
          <a:prstGeom prst="rect">
            <a:avLst/>
          </a:prstGeom>
          <a:noFill/>
          <a:ln>
            <a:noFill/>
          </a:ln>
        </p:spPr>
      </p:pic>
      <p:sp>
        <p:nvSpPr>
          <p:cNvPr id="115" name="Google Shape;115;p15"/>
          <p:cNvSpPr/>
          <p:nvPr/>
        </p:nvSpPr>
        <p:spPr>
          <a:xfrm>
            <a:off x="571500" y="4267200"/>
            <a:ext cx="11049000" cy="38100"/>
          </a:xfrm>
          <a:prstGeom prst="roundRect">
            <a:avLst>
              <a:gd name="adj" fmla="val 16667"/>
            </a:avLst>
          </a:prstGeom>
          <a:solidFill>
            <a:srgbClr val="33415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15"/>
          <p:cNvSpPr txBox="1"/>
          <p:nvPr/>
        </p:nvSpPr>
        <p:spPr>
          <a:xfrm>
            <a:off x="638651" y="3862387"/>
            <a:ext cx="3180397" cy="219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4" b="1" i="0" u="none" strike="noStrike" cap="none">
                <a:solidFill>
                  <a:srgbClr val="F1F5F9"/>
                </a:solidFill>
                <a:latin typeface="Urbanist"/>
                <a:ea typeface="Urbanist"/>
                <a:cs typeface="Urbanist"/>
                <a:sym typeface="Urbanist"/>
              </a:rPr>
              <a:t>Adatgyűjtés</a:t>
            </a:r>
            <a:endParaRPr/>
          </a:p>
        </p:txBody>
      </p:sp>
      <p:sp>
        <p:nvSpPr>
          <p:cNvPr id="117" name="Google Shape;117;p15"/>
          <p:cNvSpPr txBox="1"/>
          <p:nvPr/>
        </p:nvSpPr>
        <p:spPr>
          <a:xfrm>
            <a:off x="714375" y="4271962"/>
            <a:ext cx="302895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A program letölti az RSS feedeket 6 magyar hírportálról (feedparser könyvtár).</a:t>
            </a:r>
            <a:endParaRPr/>
          </a:p>
        </p:txBody>
      </p:sp>
      <p:sp>
        <p:nvSpPr>
          <p:cNvPr id="118" name="Google Shape;118;p15"/>
          <p:cNvSpPr txBox="1"/>
          <p:nvPr/>
        </p:nvSpPr>
        <p:spPr>
          <a:xfrm>
            <a:off x="4505801" y="3862387"/>
            <a:ext cx="3180397" cy="219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4" b="1" i="0" u="none" strike="noStrike" cap="none">
                <a:solidFill>
                  <a:srgbClr val="F1F5F9"/>
                </a:solidFill>
                <a:latin typeface="Urbanist"/>
                <a:ea typeface="Urbanist"/>
                <a:cs typeface="Urbanist"/>
                <a:sym typeface="Urbanist"/>
              </a:rPr>
              <a:t>Tisztítás</a:t>
            </a:r>
            <a:endParaRPr/>
          </a:p>
        </p:txBody>
      </p:sp>
      <p:sp>
        <p:nvSpPr>
          <p:cNvPr id="119" name="Google Shape;119;p15"/>
          <p:cNvSpPr txBox="1"/>
          <p:nvPr/>
        </p:nvSpPr>
        <p:spPr>
          <a:xfrm>
            <a:off x="4581525" y="4271962"/>
            <a:ext cx="302895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Eltávolítjuk a felesleges HTML kódokat és linkeket a szövegből (BeautifulSoup).</a:t>
            </a:r>
            <a:endParaRPr/>
          </a:p>
        </p:txBody>
      </p:sp>
      <p:sp>
        <p:nvSpPr>
          <p:cNvPr id="120" name="Google Shape;120;p15"/>
          <p:cNvSpPr txBox="1"/>
          <p:nvPr/>
        </p:nvSpPr>
        <p:spPr>
          <a:xfrm>
            <a:off x="8372951" y="3862387"/>
            <a:ext cx="3180397" cy="219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4" b="1" i="0" u="none" strike="noStrike" cap="none">
                <a:solidFill>
                  <a:srgbClr val="F1F5F9"/>
                </a:solidFill>
                <a:latin typeface="Urbanist"/>
                <a:ea typeface="Urbanist"/>
                <a:cs typeface="Urbanist"/>
                <a:sym typeface="Urbanist"/>
              </a:rPr>
              <a:t>Mentés</a:t>
            </a:r>
            <a:endParaRPr/>
          </a:p>
        </p:txBody>
      </p:sp>
      <p:sp>
        <p:nvSpPr>
          <p:cNvPr id="121" name="Google Shape;121;p15"/>
          <p:cNvSpPr txBox="1"/>
          <p:nvPr/>
        </p:nvSpPr>
        <p:spPr>
          <a:xfrm>
            <a:off x="8448675" y="4271962"/>
            <a:ext cx="3028950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Az összes cikket egy közös CSV adatbázisba mentjük az elemzéshez.</a:t>
            </a:r>
            <a:endParaRPr/>
          </a:p>
        </p:txBody>
      </p:sp>
      <p:sp>
        <p:nvSpPr>
          <p:cNvPr id="122" name="Google Shape;122;p15"/>
          <p:cNvSpPr txBox="1"/>
          <p:nvPr/>
        </p:nvSpPr>
        <p:spPr>
          <a:xfrm>
            <a:off x="571500" y="571500"/>
            <a:ext cx="1160145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F1F5F9"/>
                </a:solidFill>
                <a:latin typeface="Urbanist"/>
                <a:ea typeface="Urbanist"/>
                <a:cs typeface="Urbanist"/>
                <a:sym typeface="Urbanist"/>
              </a:rPr>
              <a:t>Hogyan Működik?</a:t>
            </a:r>
            <a:endParaRPr/>
          </a:p>
        </p:txBody>
      </p:sp>
      <p:sp>
        <p:nvSpPr>
          <p:cNvPr id="123" name="Google Shape;123;p15"/>
          <p:cNvSpPr/>
          <p:nvPr/>
        </p:nvSpPr>
        <p:spPr>
          <a:xfrm>
            <a:off x="571500" y="1314450"/>
            <a:ext cx="11049000" cy="1905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8" name="Google Shape;128;p1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16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81750" y="2190750"/>
            <a:ext cx="5238750" cy="3810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16"/>
          <p:cNvSpPr txBox="1"/>
          <p:nvPr/>
        </p:nvSpPr>
        <p:spPr>
          <a:xfrm>
            <a:off x="571500" y="2747962"/>
            <a:ext cx="5500687" cy="219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4" b="1" i="0" u="none" strike="noStrike" cap="none">
                <a:solidFill>
                  <a:srgbClr val="F1F5F9"/>
                </a:solidFill>
                <a:latin typeface="Urbanist"/>
                <a:ea typeface="Urbanist"/>
                <a:cs typeface="Urbanist"/>
                <a:sym typeface="Urbanist"/>
              </a:rPr>
              <a:t>Kulcsszavak Keresése</a:t>
            </a:r>
            <a:endParaRPr/>
          </a:p>
        </p:txBody>
      </p:sp>
      <p:sp>
        <p:nvSpPr>
          <p:cNvPr id="131" name="Google Shape;131;p16"/>
          <p:cNvSpPr txBox="1"/>
          <p:nvPr/>
        </p:nvSpPr>
        <p:spPr>
          <a:xfrm>
            <a:off x="571500" y="3157537"/>
            <a:ext cx="523875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Megvizsgáltuk a leggyakoribb szavakat minden hírportálnál.</a:t>
            </a:r>
            <a:endParaRPr/>
          </a:p>
        </p:txBody>
      </p:sp>
      <p:pic>
        <p:nvPicPr>
          <p:cNvPr id="132" name="Google Shape;132;p16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391275" y="2200275"/>
            <a:ext cx="5219700" cy="3790950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16"/>
          <p:cNvSpPr txBox="1"/>
          <p:nvPr/>
        </p:nvSpPr>
        <p:spPr>
          <a:xfrm>
            <a:off x="857250" y="3652837"/>
            <a:ext cx="495300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A program kiszámolja, mely szavak a legfontosabbak (TF-IDF módszer).</a:t>
            </a:r>
            <a:endParaRPr/>
          </a:p>
        </p:txBody>
      </p:sp>
      <p:sp>
        <p:nvSpPr>
          <p:cNvPr id="134" name="Google Shape;134;p16"/>
          <p:cNvSpPr txBox="1"/>
          <p:nvPr/>
        </p:nvSpPr>
        <p:spPr>
          <a:xfrm>
            <a:off x="857250" y="4452937"/>
            <a:ext cx="49530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Kiszűrjük a kötőszavakat (pl. "és", "hogy", "az").</a:t>
            </a:r>
            <a:endParaRPr/>
          </a:p>
        </p:txBody>
      </p:sp>
      <p:sp>
        <p:nvSpPr>
          <p:cNvPr id="135" name="Google Shape;135;p16"/>
          <p:cNvSpPr txBox="1"/>
          <p:nvPr/>
        </p:nvSpPr>
        <p:spPr>
          <a:xfrm>
            <a:off x="857250" y="4948237"/>
            <a:ext cx="49530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Láthatóvá válik, melyik újság milyen témákra fókuszál.</a:t>
            </a:r>
            <a:endParaRPr/>
          </a:p>
        </p:txBody>
      </p:sp>
      <p:sp>
        <p:nvSpPr>
          <p:cNvPr id="136" name="Google Shape;136;p16"/>
          <p:cNvSpPr txBox="1"/>
          <p:nvPr/>
        </p:nvSpPr>
        <p:spPr>
          <a:xfrm>
            <a:off x="571500" y="571500"/>
            <a:ext cx="1160145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F1F5F9"/>
                </a:solidFill>
                <a:latin typeface="Urbanist"/>
                <a:ea typeface="Urbanist"/>
                <a:cs typeface="Urbanist"/>
                <a:sym typeface="Urbanist"/>
              </a:rPr>
              <a:t>Miről írnak a lapok?</a:t>
            </a:r>
            <a:endParaRPr/>
          </a:p>
        </p:txBody>
      </p:sp>
      <p:sp>
        <p:nvSpPr>
          <p:cNvPr id="137" name="Google Shape;137;p16"/>
          <p:cNvSpPr/>
          <p:nvPr/>
        </p:nvSpPr>
        <p:spPr>
          <a:xfrm>
            <a:off x="571500" y="1314450"/>
            <a:ext cx="11049000" cy="1905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8" name="Google Shape;138;p16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71500" y="3690937"/>
            <a:ext cx="19050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9" name="Google Shape;139;p16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71500" y="4491037"/>
            <a:ext cx="19050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0" name="Google Shape;140;p16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71500" y="4986337"/>
            <a:ext cx="190500" cy="2000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5" name="Google Shape;145;p1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6" name="Google Shape;146;p17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3249959"/>
            <a:ext cx="3492400" cy="247263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7" name="Google Shape;147;p17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349650" y="3249959"/>
            <a:ext cx="3492549" cy="247263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8" name="Google Shape;148;p17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127950" y="3249959"/>
            <a:ext cx="3492400" cy="2472630"/>
          </a:xfrm>
          <a:prstGeom prst="rect">
            <a:avLst/>
          </a:prstGeom>
          <a:noFill/>
          <a:ln>
            <a:noFill/>
          </a:ln>
        </p:spPr>
      </p:pic>
      <p:sp>
        <p:nvSpPr>
          <p:cNvPr id="149" name="Google Shape;149;p17"/>
          <p:cNvSpPr txBox="1"/>
          <p:nvPr/>
        </p:nvSpPr>
        <p:spPr>
          <a:xfrm>
            <a:off x="571500" y="2659409"/>
            <a:ext cx="110490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Összehasonlítottunk több algoritmust, hogy melyik a leggyorsabb a cikkek rendszerezésében.</a:t>
            </a:r>
            <a:endParaRPr/>
          </a:p>
        </p:txBody>
      </p:sp>
      <p:sp>
        <p:nvSpPr>
          <p:cNvPr id="150" name="Google Shape;150;p17"/>
          <p:cNvSpPr txBox="1"/>
          <p:nvPr/>
        </p:nvSpPr>
        <p:spPr>
          <a:xfrm>
            <a:off x="794228" y="4259609"/>
            <a:ext cx="3046943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E2E8F0"/>
                </a:solidFill>
                <a:latin typeface="Urbanist"/>
                <a:ea typeface="Urbanist"/>
                <a:cs typeface="Urbanist"/>
                <a:sym typeface="Urbanist"/>
              </a:rPr>
              <a:t>Decision Tree</a:t>
            </a:r>
            <a:endParaRPr/>
          </a:p>
        </p:txBody>
      </p:sp>
      <p:sp>
        <p:nvSpPr>
          <p:cNvPr id="151" name="Google Shape;151;p17"/>
          <p:cNvSpPr txBox="1"/>
          <p:nvPr/>
        </p:nvSpPr>
        <p:spPr>
          <a:xfrm>
            <a:off x="866775" y="4707284"/>
            <a:ext cx="2901850" cy="274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Döntési fa alapú osztályozás.</a:t>
            </a:r>
            <a:endParaRPr/>
          </a:p>
        </p:txBody>
      </p:sp>
      <p:sp>
        <p:nvSpPr>
          <p:cNvPr id="152" name="Google Shape;152;p17"/>
          <p:cNvSpPr txBox="1"/>
          <p:nvPr/>
        </p:nvSpPr>
        <p:spPr>
          <a:xfrm>
            <a:off x="4572375" y="4259609"/>
            <a:ext cx="3047099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E2E8F0"/>
                </a:solidFill>
                <a:latin typeface="Urbanist"/>
                <a:ea typeface="Urbanist"/>
                <a:cs typeface="Urbanist"/>
                <a:sym typeface="Urbanist"/>
              </a:rPr>
              <a:t>K-Means</a:t>
            </a:r>
            <a:endParaRPr/>
          </a:p>
        </p:txBody>
      </p:sp>
      <p:sp>
        <p:nvSpPr>
          <p:cNvPr id="153" name="Google Shape;153;p17"/>
          <p:cNvSpPr txBox="1"/>
          <p:nvPr/>
        </p:nvSpPr>
        <p:spPr>
          <a:xfrm>
            <a:off x="4644925" y="4707284"/>
            <a:ext cx="2901999" cy="548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Csoportosítás (klaszterezés) felügyelet nélkül.</a:t>
            </a:r>
            <a:endParaRPr/>
          </a:p>
        </p:txBody>
      </p:sp>
      <p:sp>
        <p:nvSpPr>
          <p:cNvPr id="154" name="Google Shape;154;p17"/>
          <p:cNvSpPr txBox="1"/>
          <p:nvPr/>
        </p:nvSpPr>
        <p:spPr>
          <a:xfrm>
            <a:off x="8350679" y="4259609"/>
            <a:ext cx="3046943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E2E8F0"/>
                </a:solidFill>
                <a:latin typeface="Urbanist"/>
                <a:ea typeface="Urbanist"/>
                <a:cs typeface="Urbanist"/>
                <a:sym typeface="Urbanist"/>
              </a:rPr>
              <a:t>Eredmény</a:t>
            </a:r>
            <a:endParaRPr/>
          </a:p>
        </p:txBody>
      </p:sp>
      <p:sp>
        <p:nvSpPr>
          <p:cNvPr id="155" name="Google Shape;155;p17"/>
          <p:cNvSpPr txBox="1"/>
          <p:nvPr/>
        </p:nvSpPr>
        <p:spPr>
          <a:xfrm>
            <a:off x="8423225" y="4707284"/>
            <a:ext cx="2901850" cy="5485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94A3B8"/>
                </a:solidFill>
                <a:latin typeface="Urbanist"/>
                <a:ea typeface="Urbanist"/>
                <a:cs typeface="Urbanist"/>
                <a:sym typeface="Urbanist"/>
              </a:rPr>
              <a:t>Megmértük a futási időt és a pontosságot.</a:t>
            </a:r>
            <a:endParaRPr/>
          </a:p>
        </p:txBody>
      </p:sp>
      <p:pic>
        <p:nvPicPr>
          <p:cNvPr id="156" name="Google Shape;156;p17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2060525" y="3564284"/>
            <a:ext cx="51435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17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5838676" y="3564284"/>
            <a:ext cx="51435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8" name="Google Shape;158;p17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9674125" y="3564284"/>
            <a:ext cx="40005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17"/>
          <p:cNvSpPr txBox="1"/>
          <p:nvPr/>
        </p:nvSpPr>
        <p:spPr>
          <a:xfrm>
            <a:off x="571500" y="571500"/>
            <a:ext cx="1160145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F1F5F9"/>
                </a:solidFill>
                <a:latin typeface="Urbanist"/>
                <a:ea typeface="Urbanist"/>
                <a:cs typeface="Urbanist"/>
                <a:sym typeface="Urbanist"/>
              </a:rPr>
              <a:t>Gépi Tanulás (AI)</a:t>
            </a:r>
            <a:endParaRPr/>
          </a:p>
        </p:txBody>
      </p:sp>
      <p:sp>
        <p:nvSpPr>
          <p:cNvPr id="160" name="Google Shape;160;p17"/>
          <p:cNvSpPr/>
          <p:nvPr/>
        </p:nvSpPr>
        <p:spPr>
          <a:xfrm>
            <a:off x="571500" y="1314450"/>
            <a:ext cx="11049000" cy="1905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5" name="Google Shape;165;p18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6" name="Google Shape;166;p18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81750" y="2190750"/>
            <a:ext cx="5238750" cy="3810000"/>
          </a:xfrm>
          <a:prstGeom prst="rect">
            <a:avLst/>
          </a:prstGeom>
          <a:noFill/>
          <a:ln>
            <a:noFill/>
          </a:ln>
        </p:spPr>
      </p:pic>
      <p:sp>
        <p:nvSpPr>
          <p:cNvPr id="167" name="Google Shape;167;p18"/>
          <p:cNvSpPr txBox="1"/>
          <p:nvPr/>
        </p:nvSpPr>
        <p:spPr>
          <a:xfrm>
            <a:off x="571500" y="2438400"/>
            <a:ext cx="5500687" cy="219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4" b="1" i="0" u="none" strike="noStrike" cap="none">
                <a:solidFill>
                  <a:srgbClr val="F1F5F9"/>
                </a:solidFill>
                <a:latin typeface="Urbanist"/>
                <a:ea typeface="Urbanist"/>
                <a:cs typeface="Urbanist"/>
                <a:sym typeface="Urbanist"/>
              </a:rPr>
              <a:t>Egyedi Adatvizualizáció</a:t>
            </a:r>
            <a:endParaRPr/>
          </a:p>
        </p:txBody>
      </p:sp>
      <p:sp>
        <p:nvSpPr>
          <p:cNvPr id="168" name="Google Shape;168;p18"/>
          <p:cNvSpPr txBox="1"/>
          <p:nvPr/>
        </p:nvSpPr>
        <p:spPr>
          <a:xfrm>
            <a:off x="571500" y="2847975"/>
            <a:ext cx="5238750" cy="619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A projekt nem csak híreket, hanem egy szöveges fájlt is képes feldolgozni (andrisErkezes.txt).</a:t>
            </a:r>
            <a:endParaRPr/>
          </a:p>
        </p:txBody>
      </p:sp>
      <p:pic>
        <p:nvPicPr>
          <p:cNvPr id="169" name="Google Shape;169;p18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391275" y="2200275"/>
            <a:ext cx="5219700" cy="3790950"/>
          </a:xfrm>
          <a:prstGeom prst="rect">
            <a:avLst/>
          </a:prstGeom>
          <a:noFill/>
          <a:ln>
            <a:noFill/>
          </a:ln>
        </p:spPr>
      </p:pic>
      <p:sp>
        <p:nvSpPr>
          <p:cNvPr id="170" name="Google Shape;170;p18"/>
          <p:cNvSpPr txBox="1"/>
          <p:nvPr/>
        </p:nvSpPr>
        <p:spPr>
          <a:xfrm>
            <a:off x="857250" y="3657600"/>
            <a:ext cx="49530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A program kiolvassa az időpontokat a fájlból.</a:t>
            </a:r>
            <a:endParaRPr/>
          </a:p>
        </p:txBody>
      </p:sp>
      <p:sp>
        <p:nvSpPr>
          <p:cNvPr id="171" name="Google Shape;171;p18"/>
          <p:cNvSpPr txBox="1"/>
          <p:nvPr/>
        </p:nvSpPr>
        <p:spPr>
          <a:xfrm>
            <a:off x="857250" y="4152900"/>
            <a:ext cx="495300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Ábrázolja, hogyan alakulnak az érkezések reggel 8:00 és 9:00 között.</a:t>
            </a:r>
            <a:endParaRPr/>
          </a:p>
        </p:txBody>
      </p:sp>
      <p:sp>
        <p:nvSpPr>
          <p:cNvPr id="172" name="Google Shape;172;p18"/>
          <p:cNvSpPr txBox="1"/>
          <p:nvPr/>
        </p:nvSpPr>
        <p:spPr>
          <a:xfrm>
            <a:off x="857250" y="4953000"/>
            <a:ext cx="495300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Ez mutatja, hogy a rendszer bármilyen szöveges adattal megbirkózik.</a:t>
            </a:r>
            <a:endParaRPr/>
          </a:p>
        </p:txBody>
      </p:sp>
      <p:sp>
        <p:nvSpPr>
          <p:cNvPr id="173" name="Google Shape;173;p18"/>
          <p:cNvSpPr txBox="1"/>
          <p:nvPr/>
        </p:nvSpPr>
        <p:spPr>
          <a:xfrm>
            <a:off x="571500" y="571500"/>
            <a:ext cx="1160145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F1F5F9"/>
                </a:solidFill>
                <a:latin typeface="Urbanist"/>
                <a:ea typeface="Urbanist"/>
                <a:cs typeface="Urbanist"/>
                <a:sym typeface="Urbanist"/>
              </a:rPr>
              <a:t>Mikor érkezik Andris?</a:t>
            </a:r>
            <a:endParaRPr/>
          </a:p>
        </p:txBody>
      </p:sp>
      <p:sp>
        <p:nvSpPr>
          <p:cNvPr id="174" name="Google Shape;174;p18"/>
          <p:cNvSpPr/>
          <p:nvPr/>
        </p:nvSpPr>
        <p:spPr>
          <a:xfrm>
            <a:off x="571500" y="1314450"/>
            <a:ext cx="11049000" cy="1905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75" name="Google Shape;175;p18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71500" y="3695700"/>
            <a:ext cx="19050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6" name="Google Shape;176;p18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71500" y="4191000"/>
            <a:ext cx="19050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7" name="Google Shape;177;p18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71500" y="4991100"/>
            <a:ext cx="190500" cy="2000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2" name="Google Shape;182;p19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83" name="Google Shape;183;p19"/>
          <p:cNvSpPr txBox="1"/>
          <p:nvPr/>
        </p:nvSpPr>
        <p:spPr>
          <a:xfrm>
            <a:off x="762000" y="762000"/>
            <a:ext cx="4800600" cy="11239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F1F5F9"/>
                </a:solidFill>
                <a:latin typeface="Urbanist"/>
                <a:ea typeface="Urbanist"/>
                <a:cs typeface="Urbanist"/>
                <a:sym typeface="Urbanist"/>
              </a:rPr>
              <a:t>Az Eredmény:</a:t>
            </a:r>
            <a:br>
              <a:rPr lang="en-US"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3600" b="1" i="0" u="none" strike="noStrike" cap="none">
                <a:solidFill>
                  <a:srgbClr val="F1F5F9"/>
                </a:solidFill>
                <a:latin typeface="Urbanist"/>
                <a:ea typeface="Urbanist"/>
                <a:cs typeface="Urbanist"/>
                <a:sym typeface="Urbanist"/>
              </a:rPr>
              <a:t> Interaktív Dashboard</a:t>
            </a:r>
            <a:endParaRPr/>
          </a:p>
        </p:txBody>
      </p:sp>
      <p:sp>
        <p:nvSpPr>
          <p:cNvPr id="184" name="Google Shape;184;p19"/>
          <p:cNvSpPr/>
          <p:nvPr/>
        </p:nvSpPr>
        <p:spPr>
          <a:xfrm>
            <a:off x="762000" y="2057400"/>
            <a:ext cx="4572000" cy="1905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85" name="Google Shape;185;p19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096000" y="0"/>
            <a:ext cx="6096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86" name="Google Shape;186;p19"/>
          <p:cNvSpPr txBox="1"/>
          <p:nvPr/>
        </p:nvSpPr>
        <p:spPr>
          <a:xfrm>
            <a:off x="762000" y="2667000"/>
            <a:ext cx="4572000" cy="60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Minden elemzést egy közös, webes felületre raktunk össze a </a:t>
            </a:r>
            <a:r>
              <a:rPr lang="en-US" sz="1500" b="1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Panel</a:t>
            </a:r>
            <a:r>
              <a:rPr lang="en-US" sz="150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 könyvtár segítségével.</a:t>
            </a:r>
            <a:endParaRPr/>
          </a:p>
        </p:txBody>
      </p:sp>
      <p:sp>
        <p:nvSpPr>
          <p:cNvPr id="187" name="Google Shape;187;p19"/>
          <p:cNvSpPr txBox="1"/>
          <p:nvPr/>
        </p:nvSpPr>
        <p:spPr>
          <a:xfrm>
            <a:off x="1047750" y="3752850"/>
            <a:ext cx="428625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Kereshető szavak.</a:t>
            </a:r>
            <a:endParaRPr/>
          </a:p>
        </p:txBody>
      </p:sp>
      <p:sp>
        <p:nvSpPr>
          <p:cNvPr id="188" name="Google Shape;188;p19"/>
          <p:cNvSpPr txBox="1"/>
          <p:nvPr/>
        </p:nvSpPr>
        <p:spPr>
          <a:xfrm>
            <a:off x="1047750" y="4248150"/>
            <a:ext cx="428625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Dinamikus grafikonok.</a:t>
            </a:r>
            <a:endParaRPr/>
          </a:p>
        </p:txBody>
      </p:sp>
      <p:sp>
        <p:nvSpPr>
          <p:cNvPr id="189" name="Google Shape;189;p19"/>
          <p:cNvSpPr txBox="1"/>
          <p:nvPr/>
        </p:nvSpPr>
        <p:spPr>
          <a:xfrm>
            <a:off x="1047750" y="4743450"/>
            <a:ext cx="428625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Sötét mód (Dark mode).</a:t>
            </a:r>
            <a:endParaRPr/>
          </a:p>
        </p:txBody>
      </p:sp>
      <p:sp>
        <p:nvSpPr>
          <p:cNvPr id="190" name="Google Shape;190;p19"/>
          <p:cNvSpPr txBox="1"/>
          <p:nvPr/>
        </p:nvSpPr>
        <p:spPr>
          <a:xfrm>
            <a:off x="1047750" y="5238750"/>
            <a:ext cx="428625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Minden adat egy helyen, azonnal.</a:t>
            </a:r>
            <a:endParaRPr/>
          </a:p>
        </p:txBody>
      </p:sp>
      <p:pic>
        <p:nvPicPr>
          <p:cNvPr id="191" name="Google Shape;191;p19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62000" y="3790950"/>
            <a:ext cx="19050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92" name="Google Shape;192;p19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62000" y="4286250"/>
            <a:ext cx="19050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93" name="Google Shape;193;p19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62000" y="4781550"/>
            <a:ext cx="190500" cy="20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94" name="Google Shape;194;p19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62000" y="5276850"/>
            <a:ext cx="190500" cy="2000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9" name="Google Shape;199;p2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00" name="Google Shape;200;p20"/>
          <p:cNvSpPr txBox="1"/>
          <p:nvPr/>
        </p:nvSpPr>
        <p:spPr>
          <a:xfrm>
            <a:off x="1040368" y="2563957"/>
            <a:ext cx="10111263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500" b="1" i="0" u="none" strike="noStrike" cap="none" dirty="0" err="1">
                <a:solidFill>
                  <a:srgbClr val="3B82F6"/>
                </a:solidFill>
                <a:latin typeface="Urbanist"/>
                <a:ea typeface="Urbanist"/>
                <a:cs typeface="Urbanist"/>
                <a:sym typeface="Urbanist"/>
              </a:rPr>
              <a:t>Köszönöm</a:t>
            </a:r>
            <a:r>
              <a:rPr lang="en-US" sz="7500" b="1" i="0" u="none" strike="noStrike" cap="none" dirty="0">
                <a:solidFill>
                  <a:srgbClr val="3B82F6"/>
                </a:solidFill>
                <a:latin typeface="Urbanist"/>
                <a:ea typeface="Urbanist"/>
                <a:cs typeface="Urbanist"/>
                <a:sym typeface="Urbanist"/>
              </a:rPr>
              <a:t> a </a:t>
            </a:r>
            <a:r>
              <a:rPr lang="en-US" sz="7500" b="1" i="0" u="none" strike="noStrike" cap="none" dirty="0" err="1">
                <a:solidFill>
                  <a:srgbClr val="3B82F6"/>
                </a:solidFill>
                <a:latin typeface="Urbanist"/>
                <a:ea typeface="Urbanist"/>
                <a:cs typeface="Urbanist"/>
                <a:sym typeface="Urbanist"/>
              </a:rPr>
              <a:t>figyelmet</a:t>
            </a:r>
            <a:r>
              <a:rPr lang="en-US" sz="7500" b="1" i="0" u="none" strike="noStrike" cap="none" dirty="0">
                <a:solidFill>
                  <a:srgbClr val="3B82F6"/>
                </a:solidFill>
                <a:latin typeface="Urbanist"/>
                <a:ea typeface="Urbanist"/>
                <a:cs typeface="Urbanist"/>
                <a:sym typeface="Urbanist"/>
              </a:rPr>
              <a:t>!</a:t>
            </a:r>
            <a:endParaRPr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6" name="Google Shape;206;p21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7" name="Google Shape;207;p21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077640"/>
            <a:ext cx="148232" cy="219075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21"/>
          <p:cNvSpPr/>
          <p:nvPr/>
        </p:nvSpPr>
        <p:spPr>
          <a:xfrm>
            <a:off x="571500" y="2814786"/>
            <a:ext cx="11049000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09" name="Google Shape;209;p21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862411"/>
            <a:ext cx="148232" cy="219075"/>
          </a:xfrm>
          <a:prstGeom prst="rect">
            <a:avLst/>
          </a:prstGeom>
          <a:noFill/>
          <a:ln>
            <a:noFill/>
          </a:ln>
        </p:spPr>
      </p:pic>
      <p:sp>
        <p:nvSpPr>
          <p:cNvPr id="210" name="Google Shape;210;p21"/>
          <p:cNvSpPr/>
          <p:nvPr/>
        </p:nvSpPr>
        <p:spPr>
          <a:xfrm>
            <a:off x="571500" y="3599557"/>
            <a:ext cx="11049000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11" name="Google Shape;211;p21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3647182"/>
            <a:ext cx="148232" cy="219075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21"/>
          <p:cNvSpPr/>
          <p:nvPr/>
        </p:nvSpPr>
        <p:spPr>
          <a:xfrm>
            <a:off x="571500" y="4384327"/>
            <a:ext cx="11049000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13" name="Google Shape;213;p21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4431952"/>
            <a:ext cx="148232" cy="219075"/>
          </a:xfrm>
          <a:prstGeom prst="rect">
            <a:avLst/>
          </a:prstGeom>
          <a:noFill/>
          <a:ln>
            <a:noFill/>
          </a:ln>
        </p:spPr>
      </p:pic>
      <p:sp>
        <p:nvSpPr>
          <p:cNvPr id="214" name="Google Shape;214;p21"/>
          <p:cNvSpPr/>
          <p:nvPr/>
        </p:nvSpPr>
        <p:spPr>
          <a:xfrm>
            <a:off x="571500" y="5367188"/>
            <a:ext cx="11049000" cy="9525"/>
          </a:xfrm>
          <a:prstGeom prst="rect">
            <a:avLst/>
          </a:prstGeom>
          <a:solidFill>
            <a:srgbClr val="757575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15" name="Google Shape;215;p21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5414813"/>
            <a:ext cx="148232" cy="219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16" name="Google Shape;216;p21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71500" y="2188964"/>
            <a:ext cx="8572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217" name="Google Shape;217;p21"/>
          <p:cNvSpPr txBox="1"/>
          <p:nvPr/>
        </p:nvSpPr>
        <p:spPr>
          <a:xfrm>
            <a:off x="1666875" y="2182415"/>
            <a:ext cx="9953625" cy="198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https://www.cambridgespark.com/hs-fs/hubfs/python-code_1000x500.jpg?width=730&amp;height=365&amp;name=python-code_1000x500.jpg</a:t>
            </a:r>
            <a:endParaRPr/>
          </a:p>
        </p:txBody>
      </p:sp>
      <p:sp>
        <p:nvSpPr>
          <p:cNvPr id="218" name="Google Shape;218;p21"/>
          <p:cNvSpPr txBox="1"/>
          <p:nvPr/>
        </p:nvSpPr>
        <p:spPr>
          <a:xfrm>
            <a:off x="1666875" y="2428130"/>
            <a:ext cx="9953625" cy="2437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Source: </a:t>
            </a:r>
            <a:r>
              <a:rPr lang="en-US" sz="1200" b="0" i="0" u="none" strike="noStrike" cap="none">
                <a:solidFill>
                  <a:srgbClr val="4F46E5"/>
                </a:solidFill>
                <a:latin typeface="Urbanist"/>
                <a:ea typeface="Urbanist"/>
                <a:cs typeface="Urbanist"/>
                <a:sym typeface="Urbanist"/>
              </a:rPr>
              <a:t>www.cambridgespark.com</a:t>
            </a:r>
            <a:endParaRPr/>
          </a:p>
        </p:txBody>
      </p:sp>
      <p:pic>
        <p:nvPicPr>
          <p:cNvPr id="219" name="Google Shape;219;p21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71500" y="2973734"/>
            <a:ext cx="8572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220" name="Google Shape;220;p21"/>
          <p:cNvSpPr txBox="1"/>
          <p:nvPr/>
        </p:nvSpPr>
        <p:spPr>
          <a:xfrm>
            <a:off x="1666875" y="2967186"/>
            <a:ext cx="9953625" cy="198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https://upload.wikimedia.org/wikipedia/en/thumb/4/43/Feed-icon.svg/1200px-Feed-icon.svg.png</a:t>
            </a:r>
            <a:endParaRPr/>
          </a:p>
        </p:txBody>
      </p:sp>
      <p:sp>
        <p:nvSpPr>
          <p:cNvPr id="221" name="Google Shape;221;p21"/>
          <p:cNvSpPr txBox="1"/>
          <p:nvPr/>
        </p:nvSpPr>
        <p:spPr>
          <a:xfrm>
            <a:off x="1666875" y="3212901"/>
            <a:ext cx="9953625" cy="2437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Source: </a:t>
            </a:r>
            <a:r>
              <a:rPr lang="en-US" sz="1200" b="0" i="0" u="none" strike="noStrike" cap="none">
                <a:solidFill>
                  <a:srgbClr val="4F46E5"/>
                </a:solidFill>
                <a:latin typeface="Urbanist"/>
                <a:ea typeface="Urbanist"/>
                <a:cs typeface="Urbanist"/>
                <a:sym typeface="Urbanist"/>
              </a:rPr>
              <a:t>en.wikipedia.org</a:t>
            </a:r>
            <a:endParaRPr/>
          </a:p>
        </p:txBody>
      </p:sp>
      <p:pic>
        <p:nvPicPr>
          <p:cNvPr id="222" name="Google Shape;222;p21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571500" y="3758505"/>
            <a:ext cx="8572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223" name="Google Shape;223;p21"/>
          <p:cNvSpPr txBox="1"/>
          <p:nvPr/>
        </p:nvSpPr>
        <p:spPr>
          <a:xfrm>
            <a:off x="1666875" y="3751957"/>
            <a:ext cx="9953625" cy="198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https://cagrimmett.com/img/word_frequency_barchart.png</a:t>
            </a:r>
            <a:endParaRPr/>
          </a:p>
        </p:txBody>
      </p:sp>
      <p:sp>
        <p:nvSpPr>
          <p:cNvPr id="224" name="Google Shape;224;p21"/>
          <p:cNvSpPr txBox="1"/>
          <p:nvPr/>
        </p:nvSpPr>
        <p:spPr>
          <a:xfrm>
            <a:off x="1666875" y="3997672"/>
            <a:ext cx="9953625" cy="2437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Source: </a:t>
            </a:r>
            <a:r>
              <a:rPr lang="en-US" sz="1200" b="0" i="0" u="none" strike="noStrike" cap="none">
                <a:solidFill>
                  <a:srgbClr val="4F46E5"/>
                </a:solidFill>
                <a:latin typeface="Urbanist"/>
                <a:ea typeface="Urbanist"/>
                <a:cs typeface="Urbanist"/>
                <a:sym typeface="Urbanist"/>
              </a:rPr>
              <a:t>cagrimmett.com</a:t>
            </a:r>
            <a:endParaRPr/>
          </a:p>
        </p:txBody>
      </p:sp>
      <p:pic>
        <p:nvPicPr>
          <p:cNvPr id="225" name="Google Shape;225;p21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571500" y="4642395"/>
            <a:ext cx="8572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226" name="Google Shape;226;p21"/>
          <p:cNvSpPr txBox="1"/>
          <p:nvPr/>
        </p:nvSpPr>
        <p:spPr>
          <a:xfrm>
            <a:off x="1666875" y="4536727"/>
            <a:ext cx="9953625" cy="3961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https://static.vecteezy.com/system/resources/previews/056/167/702/non_2x/table-alarm-clock-pointing-at-9pm-or-9am-with-customizable-space-for-text-time-management-concept-and-copy-space-photo.jpg</a:t>
            </a:r>
            <a:endParaRPr/>
          </a:p>
        </p:txBody>
      </p:sp>
      <p:sp>
        <p:nvSpPr>
          <p:cNvPr id="227" name="Google Shape;227;p21"/>
          <p:cNvSpPr txBox="1"/>
          <p:nvPr/>
        </p:nvSpPr>
        <p:spPr>
          <a:xfrm>
            <a:off x="1666875" y="4980533"/>
            <a:ext cx="9953625" cy="2437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Source: </a:t>
            </a:r>
            <a:r>
              <a:rPr lang="en-US" sz="1200" b="0" i="0" u="none" strike="noStrike" cap="none">
                <a:solidFill>
                  <a:srgbClr val="4F46E5"/>
                </a:solidFill>
                <a:latin typeface="Urbanist"/>
                <a:ea typeface="Urbanist"/>
                <a:cs typeface="Urbanist"/>
                <a:sym typeface="Urbanist"/>
              </a:rPr>
              <a:t>www.vecteezy.com</a:t>
            </a:r>
            <a:endParaRPr/>
          </a:p>
        </p:txBody>
      </p:sp>
      <p:pic>
        <p:nvPicPr>
          <p:cNvPr id="228" name="Google Shape;228;p21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571500" y="5526137"/>
            <a:ext cx="857250" cy="476250"/>
          </a:xfrm>
          <a:prstGeom prst="rect">
            <a:avLst/>
          </a:prstGeom>
          <a:noFill/>
          <a:ln>
            <a:noFill/>
          </a:ln>
        </p:spPr>
      </p:pic>
      <p:sp>
        <p:nvSpPr>
          <p:cNvPr id="229" name="Google Shape;229;p21"/>
          <p:cNvSpPr txBox="1"/>
          <p:nvPr/>
        </p:nvSpPr>
        <p:spPr>
          <a:xfrm>
            <a:off x="1666875" y="5519588"/>
            <a:ext cx="9953625" cy="198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75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https://cdn.dribbble.com/userupload/44075575/file/original-c347f3abbb947b6bf51671f43f83f8c7.webp?resize=752x&amp;vertical=center</a:t>
            </a:r>
            <a:endParaRPr/>
          </a:p>
        </p:txBody>
      </p:sp>
      <p:sp>
        <p:nvSpPr>
          <p:cNvPr id="230" name="Google Shape;230;p21"/>
          <p:cNvSpPr txBox="1"/>
          <p:nvPr/>
        </p:nvSpPr>
        <p:spPr>
          <a:xfrm>
            <a:off x="1666875" y="5765303"/>
            <a:ext cx="9953625" cy="2437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CBD5E1"/>
                </a:solidFill>
                <a:latin typeface="Urbanist"/>
                <a:ea typeface="Urbanist"/>
                <a:cs typeface="Urbanist"/>
                <a:sym typeface="Urbanist"/>
              </a:rPr>
              <a:t>Source: </a:t>
            </a:r>
            <a:r>
              <a:rPr lang="en-US" sz="1200" b="0" i="0" u="none" strike="noStrike" cap="none">
                <a:solidFill>
                  <a:srgbClr val="4F46E5"/>
                </a:solidFill>
                <a:latin typeface="Urbanist"/>
                <a:ea typeface="Urbanist"/>
                <a:cs typeface="Urbanist"/>
                <a:sym typeface="Urbanist"/>
              </a:rPr>
              <a:t>dribbble.com</a:t>
            </a:r>
            <a:endParaRPr/>
          </a:p>
        </p:txBody>
      </p:sp>
      <p:sp>
        <p:nvSpPr>
          <p:cNvPr id="231" name="Google Shape;231;p21"/>
          <p:cNvSpPr txBox="1"/>
          <p:nvPr/>
        </p:nvSpPr>
        <p:spPr>
          <a:xfrm>
            <a:off x="571500" y="571500"/>
            <a:ext cx="11601450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F1F5F9"/>
                </a:solidFill>
                <a:latin typeface="Urbanist"/>
                <a:ea typeface="Urbanist"/>
                <a:cs typeface="Urbanist"/>
                <a:sym typeface="Urbanist"/>
              </a:rPr>
              <a:t>Image Sources</a:t>
            </a:r>
            <a:endParaRPr/>
          </a:p>
        </p:txBody>
      </p:sp>
      <p:sp>
        <p:nvSpPr>
          <p:cNvPr id="232" name="Google Shape;232;p21"/>
          <p:cNvSpPr/>
          <p:nvPr/>
        </p:nvSpPr>
        <p:spPr>
          <a:xfrm>
            <a:off x="571500" y="1314450"/>
            <a:ext cx="11049000" cy="1905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444</Words>
  <Application>Microsoft Office PowerPoint</Application>
  <PresentationFormat>Szélesvásznú</PresentationFormat>
  <Paragraphs>52</Paragraphs>
  <Slides>9</Slides>
  <Notes>9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4</vt:i4>
      </vt:variant>
      <vt:variant>
        <vt:lpstr>Téma</vt:lpstr>
      </vt:variant>
      <vt:variant>
        <vt:i4>1</vt:i4>
      </vt:variant>
      <vt:variant>
        <vt:lpstr>Diacímek</vt:lpstr>
      </vt:variant>
      <vt:variant>
        <vt:i4>9</vt:i4>
      </vt:variant>
    </vt:vector>
  </HeadingPairs>
  <TitlesOfParts>
    <vt:vector size="14" baseType="lpstr">
      <vt:lpstr>Urbanist</vt:lpstr>
      <vt:lpstr>Calibri</vt:lpstr>
      <vt:lpstr>Arial</vt:lpstr>
      <vt:lpstr>Times New Roman</vt:lpstr>
      <vt:lpstr>Office Theme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András Loós</cp:lastModifiedBy>
  <cp:revision>1</cp:revision>
  <dcterms:modified xsi:type="dcterms:W3CDTF">2025-11-30T19:22:14Z</dcterms:modified>
</cp:coreProperties>
</file>