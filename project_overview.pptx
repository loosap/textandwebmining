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/>
              <a:t>Text és Webbányászat – Interaktív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800"/>
              <a:t>Összefoglaló és tanulságok</a:t>
            </a:r>
          </a:p>
          <a:p>
            <a:r>
              <a:rPr sz="2800"/>
              <a:t>2025-11-17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Célok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 sz="2200">
                <a:solidFill>
                  <a:srgbClr val="3B82F6"/>
                </a:solidFill>
              </a:rPr>
              <a:t>Probléma:</a:t>
            </a:r>
            <a:r>
              <a:rPr sz="2200"/>
              <a:t> RSS cikkek gyors feltárása és összehasonlítása</a:t>
            </a:r>
          </a:p>
          <a:p>
            <a:pPr/>
            <a:r>
              <a:rPr b="1" sz="2200">
                <a:solidFill>
                  <a:srgbClr val="3B82F6"/>
                </a:solidFill>
              </a:rPr>
              <a:t>Megoldás:</a:t>
            </a:r>
            <a:r>
              <a:rPr sz="2200"/>
              <a:t> Panel alapú, kattintható dashboard (live grafikonok)</a:t>
            </a:r>
          </a:p>
          <a:p>
            <a:pPr/>
            <a:r>
              <a:rPr b="1" sz="2200">
                <a:solidFill>
                  <a:srgbClr val="3B82F6"/>
                </a:solidFill>
              </a:rPr>
              <a:t>ML fókusz:</a:t>
            </a:r>
            <a:r>
              <a:rPr sz="2200"/>
              <a:t> K‑Means, Döntési fa, SVM, KNN összevetése</a:t>
            </a:r>
          </a:p>
          <a:p>
            <a:pPr/>
            <a:r>
              <a:rPr b="1" sz="2200">
                <a:solidFill>
                  <a:srgbClr val="3B82F6"/>
                </a:solidFill>
              </a:rPr>
              <a:t>Metrikák:</a:t>
            </a:r>
            <a:r>
              <a:rPr sz="2200"/>
              <a:t> futási idő + teljesítmény (Silhouette / Accuracy)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Adat és folyamat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 sz="2200">
                <a:solidFill>
                  <a:srgbClr val="3B82F6"/>
                </a:solidFill>
              </a:rPr>
              <a:t>Forrás:</a:t>
            </a:r>
            <a:r>
              <a:rPr sz="2200"/>
              <a:t> articles.csv (fetch_data.py) – cím + leírás</a:t>
            </a:r>
          </a:p>
          <a:p>
            <a:pPr/>
            <a:r>
              <a:rPr b="1" sz="2200">
                <a:solidFill>
                  <a:srgbClr val="3B82F6"/>
                </a:solidFill>
              </a:rPr>
              <a:t>Szöveg-előkészítés:</a:t>
            </a:r>
            <a:r>
              <a:rPr sz="2200"/>
              <a:t> TF‑IDF (max 1000 jellemző), magyar stopwords</a:t>
            </a:r>
          </a:p>
          <a:p>
            <a:pPr/>
            <a:r>
              <a:rPr b="1" sz="2200">
                <a:solidFill>
                  <a:srgbClr val="3B82F6"/>
                </a:solidFill>
              </a:rPr>
              <a:t>Vizualizáció:</a:t>
            </a:r>
            <a:r>
              <a:rPr sz="2200"/>
              <a:t> hvPlot + Panel (kártyák, beviteli mezők)</a:t>
            </a:r>
          </a:p>
          <a:p>
            <a:pPr/>
            <a:r>
              <a:rPr b="1" sz="2200">
                <a:solidFill>
                  <a:srgbClr val="3B82F6"/>
                </a:solidFill>
              </a:rPr>
              <a:t>Stabilitás:</a:t>
            </a:r>
            <a:r>
              <a:rPr sz="2200"/>
              <a:t> random_state=42 a reprodukálhatóságért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highlightok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Kulcsszó gyakoriság források szerint (oszlopdiagram)</a:t>
            </a:r>
          </a:p>
          <a:p>
            <a:pPr/>
            <a:r>
              <a:rPr sz="2200"/>
              <a:t>Top szavak forrásonként (TF‑IDF, magyar stopwords)</a:t>
            </a:r>
          </a:p>
          <a:p>
            <a:pPr/>
            <a:r>
              <a:rPr sz="2200"/>
              <a:t>ML eredmények (idő + pontszám) – két vonaldiagram egymás mellett</a:t>
            </a:r>
          </a:p>
          <a:p>
            <a:pPr/>
            <a:r>
              <a:rPr b="1" sz="2200">
                <a:solidFill>
                  <a:srgbClr val="3B82F6"/>
                </a:solidFill>
              </a:rPr>
              <a:t>Extra:</a:t>
            </a:r>
            <a:r>
              <a:rPr sz="2200"/>
              <a:t> Andris érkezési idők 08:00–09:00 között (idősor)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 módszertan, röviden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 sz="2200">
                <a:solidFill>
                  <a:srgbClr val="3B82F6"/>
                </a:solidFill>
              </a:rPr>
              <a:t>K‑Means (k=5) → Silhouette:</a:t>
            </a:r>
            <a:r>
              <a:rPr sz="2200"/>
              <a:t> klaszterek szeparáltsága</a:t>
            </a:r>
          </a:p>
          <a:p>
            <a:pPr/>
            <a:r>
              <a:rPr b="1" sz="2200">
                <a:solidFill>
                  <a:srgbClr val="3B82F6"/>
                </a:solidFill>
              </a:rPr>
              <a:t>Pszeudo‑címkék:</a:t>
            </a:r>
            <a:r>
              <a:rPr sz="2200"/>
              <a:t> a K‑Means címkéit tanulja vissza Tree/SVM/KNN</a:t>
            </a:r>
          </a:p>
          <a:p>
            <a:pPr/>
            <a:r>
              <a:rPr b="1" sz="2200">
                <a:solidFill>
                  <a:srgbClr val="3B82F6"/>
                </a:solidFill>
              </a:rPr>
              <a:t>Train/Test:</a:t>
            </a:r>
            <a:r>
              <a:rPr sz="2200"/>
              <a:t> 70/30 szétválasztás TF‑IDF vektorokon</a:t>
            </a:r>
          </a:p>
          <a:p>
            <a:pPr/>
            <a:r>
              <a:rPr b="1" sz="2200">
                <a:solidFill>
                  <a:srgbClr val="3B82F6"/>
                </a:solidFill>
              </a:rPr>
              <a:t>Értelmezés:</a:t>
            </a:r>
            <a:r>
              <a:rPr sz="2200"/>
              <a:t> Accuracy nem valós címke, hanem reprodukálhatóság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Tanulságok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 sz="2200">
                <a:solidFill>
                  <a:srgbClr val="3B82F6"/>
                </a:solidFill>
              </a:rPr>
              <a:t>Idő:</a:t>
            </a:r>
            <a:r>
              <a:rPr sz="2200"/>
              <a:t> modelltől és adatmennyiségtől függően változik</a:t>
            </a:r>
          </a:p>
          <a:p>
            <a:pPr/>
            <a:r>
              <a:rPr b="1" sz="2200">
                <a:solidFill>
                  <a:srgbClr val="3B82F6"/>
                </a:solidFill>
              </a:rPr>
              <a:t>Silhouette:</a:t>
            </a:r>
            <a:r>
              <a:rPr sz="2200"/>
              <a:t> −1..1, magasabb → jobb, elválasztható klaszterek</a:t>
            </a:r>
          </a:p>
          <a:p>
            <a:pPr/>
            <a:r>
              <a:rPr b="1" sz="2200">
                <a:solidFill>
                  <a:srgbClr val="3B82F6"/>
                </a:solidFill>
              </a:rPr>
              <a:t>Pontosság:</a:t>
            </a:r>
            <a:r>
              <a:rPr sz="2200"/>
              <a:t> klaszterstruktúra visszatanulhatósága (nem ground truth)</a:t>
            </a:r>
          </a:p>
          <a:p>
            <a:pPr/>
            <a:r>
              <a:rPr b="1" sz="2200">
                <a:solidFill>
                  <a:srgbClr val="3B82F6"/>
                </a:solidFill>
              </a:rPr>
              <a:t>Javítási ötletek:</a:t>
            </a:r>
            <a:r>
              <a:rPr sz="2200"/>
              <a:t> n‑gramok, ékezet‑normalizálás, valódi címkék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Futtatás / Demó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74151"/>
                </a:solidFill>
                <a:latin typeface="Consolas"/>
              </a:rPr>
              <a:t>pip install -r requirements.txt</a:t>
            </a:r>
          </a:p>
          <a:p>
            <a:r>
              <a:rPr sz="2000">
                <a:solidFill>
                  <a:srgbClr val="374151"/>
                </a:solidFill>
                <a:latin typeface="Consolas"/>
              </a:rPr>
              <a:t>panel serve analyze_data.py --show</a:t>
            </a:r>
          </a:p>
          <a:p>
            <a:r>
              <a:rPr sz="2000">
                <a:solidFill>
                  <a:srgbClr val="374151"/>
                </a:solidFill>
                <a:latin typeface="Consolas"/>
              </a:rPr>
              <a:t>python generate_presentation.py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Köszönöm!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Kérdések? Ötletek a továbblépéshez szívesen!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